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59" r:id="rId3"/>
    <p:sldId id="271" r:id="rId4"/>
    <p:sldId id="272" r:id="rId5"/>
    <p:sldId id="273" r:id="rId6"/>
    <p:sldId id="274" r:id="rId7"/>
    <p:sldId id="275" r:id="rId8"/>
    <p:sldId id="280" r:id="rId9"/>
    <p:sldId id="279" r:id="rId10"/>
    <p:sldId id="277" r:id="rId11"/>
    <p:sldId id="278" r:id="rId12"/>
    <p:sldId id="27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AC2FBE24-5135-4E99-92D7-F511223CCFB1}">
          <p14:sldIdLst>
            <p14:sldId id="257"/>
            <p14:sldId id="259"/>
            <p14:sldId id="271"/>
            <p14:sldId id="272"/>
            <p14:sldId id="273"/>
            <p14:sldId id="274"/>
            <p14:sldId id="275"/>
            <p14:sldId id="280"/>
            <p14:sldId id="279"/>
            <p14:sldId id="277"/>
            <p14:sldId id="278"/>
            <p14:sldId id="276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-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3178FF-A00C-460C-AA19-334A29EE492E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669A89-921C-4CC2-B8FA-CDC91A823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460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A3913-F354-4F01-B5FC-93C56F8E9E4F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AB39-B028-4087-A4FD-795525AAA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782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A3913-F354-4F01-B5FC-93C56F8E9E4F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AB39-B028-4087-A4FD-795525AAA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864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A3913-F354-4F01-B5FC-93C56F8E9E4F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AB39-B028-4087-A4FD-795525AAA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692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A3913-F354-4F01-B5FC-93C56F8E9E4F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AB39-B028-4087-A4FD-795525AAA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774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A3913-F354-4F01-B5FC-93C56F8E9E4F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AB39-B028-4087-A4FD-795525AAA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450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A3913-F354-4F01-B5FC-93C56F8E9E4F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AB39-B028-4087-A4FD-795525AAA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341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A3913-F354-4F01-B5FC-93C56F8E9E4F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AB39-B028-4087-A4FD-795525AAA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014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A3913-F354-4F01-B5FC-93C56F8E9E4F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AB39-B028-4087-A4FD-795525AAA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175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A3913-F354-4F01-B5FC-93C56F8E9E4F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AB39-B028-4087-A4FD-795525AAA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791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A3913-F354-4F01-B5FC-93C56F8E9E4F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AB39-B028-4087-A4FD-795525AAA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711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A3913-F354-4F01-B5FC-93C56F8E9E4F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AB39-B028-4087-A4FD-795525AAA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218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DA3913-F354-4F01-B5FC-93C56F8E9E4F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52AB39-B028-4087-A4FD-795525AAA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463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11" Type="http://schemas.openxmlformats.org/officeDocument/2006/relationships/image" Target="../media/image7.png"/><Relationship Id="rId5" Type="http://schemas.openxmlformats.org/officeDocument/2006/relationships/image" Target="../media/image3.png"/><Relationship Id="rId10" Type="http://schemas.openxmlformats.org/officeDocument/2006/relationships/image" Target="../media/image6.png"/><Relationship Id="rId4" Type="http://schemas.openxmlformats.org/officeDocument/2006/relationships/image" Target="NULL"/><Relationship Id="rId9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5" Type="http://schemas.openxmlformats.org/officeDocument/2006/relationships/image" Target="../media/image3.png"/><Relationship Id="rId4" Type="http://schemas.openxmlformats.org/officeDocument/2006/relationships/image" Target="NUL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5" Type="http://schemas.openxmlformats.org/officeDocument/2006/relationships/image" Target="../media/image3.png"/><Relationship Id="rId4" Type="http://schemas.openxmlformats.org/officeDocument/2006/relationships/image" Target="NUL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5" Type="http://schemas.openxmlformats.org/officeDocument/2006/relationships/image" Target="../media/image3.png"/><Relationship Id="rId4" Type="http://schemas.openxmlformats.org/officeDocument/2006/relationships/image" Target="NUL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5" Type="http://schemas.openxmlformats.org/officeDocument/2006/relationships/image" Target="../media/image3.png"/><Relationship Id="rId4" Type="http://schemas.openxmlformats.org/officeDocument/2006/relationships/image" Target="NUL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NULL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NUL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5" Type="http://schemas.openxmlformats.org/officeDocument/2006/relationships/image" Target="../media/image3.png"/><Relationship Id="rId4" Type="http://schemas.openxmlformats.org/officeDocument/2006/relationships/image" Target="NUL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4.png"/><Relationship Id="rId7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7.png"/><Relationship Id="rId4" Type="http://schemas.openxmlformats.org/officeDocument/2006/relationships/image" Target="NULL"/><Relationship Id="rId9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4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NULL"/><Relationship Id="rId9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NUL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5" Type="http://schemas.openxmlformats.org/officeDocument/2006/relationships/image" Target="../media/image3.png"/><Relationship Id="rId4" Type="http://schemas.openxmlformats.org/officeDocument/2006/relationships/image" Target="NUL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597" r="-15597"/>
            </a:stretch>
          </a:blipFill>
        </p:spPr>
        <p:txBody>
          <a:bodyPr/>
          <a:lstStyle/>
          <a:p>
            <a:r>
              <a:rPr lang="uk-UA" dirty="0" smtClean="0"/>
              <a:t>е</a:t>
            </a:r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 rot="2563584">
            <a:off x="-1759235" y="4069868"/>
            <a:ext cx="3934734" cy="5316468"/>
            <a:chOff x="0" y="0"/>
            <a:chExt cx="7869467" cy="1063293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869467" cy="7869467"/>
            </a:xfrm>
            <a:custGeom>
              <a:avLst/>
              <a:gdLst/>
              <a:ahLst/>
              <a:cxnLst/>
              <a:rect l="l" t="t" r="r" b="b"/>
              <a:pathLst>
                <a:path w="7869467" h="7869467">
                  <a:moveTo>
                    <a:pt x="0" y="0"/>
                  </a:moveTo>
                  <a:lnTo>
                    <a:pt x="7869467" y="0"/>
                  </a:lnTo>
                  <a:lnTo>
                    <a:pt x="7869467" y="7869467"/>
                  </a:lnTo>
                  <a:lnTo>
                    <a:pt x="0" y="78694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313695" y="6497867"/>
              <a:ext cx="7555772" cy="4135068"/>
            </a:xfrm>
            <a:custGeom>
              <a:avLst/>
              <a:gdLst/>
              <a:ahLst/>
              <a:cxnLst/>
              <a:rect l="l" t="t" r="r" b="b"/>
              <a:pathLst>
                <a:path w="7555772" h="4135068">
                  <a:moveTo>
                    <a:pt x="0" y="0"/>
                  </a:moveTo>
                  <a:lnTo>
                    <a:pt x="7555772" y="0"/>
                  </a:lnTo>
                  <a:lnTo>
                    <a:pt x="7555772" y="4135069"/>
                  </a:lnTo>
                  <a:lnTo>
                    <a:pt x="0" y="4135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xmlns="" r:embed="rId6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12899694">
            <a:off x="9620475" y="-1808022"/>
            <a:ext cx="3934734" cy="5316468"/>
            <a:chOff x="-1" y="-1"/>
            <a:chExt cx="7869468" cy="10632936"/>
          </a:xfrm>
        </p:grpSpPr>
        <p:sp>
          <p:nvSpPr>
            <p:cNvPr id="7" name="Freeform 7"/>
            <p:cNvSpPr/>
            <p:nvPr/>
          </p:nvSpPr>
          <p:spPr>
            <a:xfrm>
              <a:off x="-1" y="-1"/>
              <a:ext cx="7869467" cy="7869468"/>
            </a:xfrm>
            <a:custGeom>
              <a:avLst/>
              <a:gdLst/>
              <a:ahLst/>
              <a:cxnLst/>
              <a:rect l="l" t="t" r="r" b="b"/>
              <a:pathLst>
                <a:path w="7869467" h="7869467">
                  <a:moveTo>
                    <a:pt x="0" y="0"/>
                  </a:moveTo>
                  <a:lnTo>
                    <a:pt x="7869467" y="0"/>
                  </a:lnTo>
                  <a:lnTo>
                    <a:pt x="7869467" y="7869467"/>
                  </a:lnTo>
                  <a:lnTo>
                    <a:pt x="0" y="78694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313695" y="6497867"/>
              <a:ext cx="7555772" cy="4135068"/>
            </a:xfrm>
            <a:custGeom>
              <a:avLst/>
              <a:gdLst/>
              <a:ahLst/>
              <a:cxnLst/>
              <a:rect l="l" t="t" r="r" b="b"/>
              <a:pathLst>
                <a:path w="7555772" h="4135068">
                  <a:moveTo>
                    <a:pt x="0" y="0"/>
                  </a:moveTo>
                  <a:lnTo>
                    <a:pt x="7555772" y="0"/>
                  </a:lnTo>
                  <a:lnTo>
                    <a:pt x="7555772" y="4135069"/>
                  </a:lnTo>
                  <a:lnTo>
                    <a:pt x="0" y="4135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xmlns="" r:embed="rId6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-1781544" y="-517811"/>
            <a:ext cx="2703299" cy="2743200"/>
          </a:xfrm>
          <a:custGeom>
            <a:avLst/>
            <a:gdLst/>
            <a:ahLst/>
            <a:cxnLst/>
            <a:rect l="l" t="t" r="r" b="b"/>
            <a:pathLst>
              <a:path w="4054948" h="4114800">
                <a:moveTo>
                  <a:pt x="0" y="0"/>
                </a:moveTo>
                <a:lnTo>
                  <a:pt x="4054948" y="0"/>
                </a:lnTo>
                <a:lnTo>
                  <a:pt x="405494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H="1" flipV="1">
            <a:off x="11336763" y="4921249"/>
            <a:ext cx="2703299" cy="2743200"/>
          </a:xfrm>
          <a:custGeom>
            <a:avLst/>
            <a:gdLst/>
            <a:ahLst/>
            <a:cxnLst/>
            <a:rect l="l" t="t" r="r" b="b"/>
            <a:pathLst>
              <a:path w="4054948" h="4114800">
                <a:moveTo>
                  <a:pt x="4054949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054949" y="0"/>
                </a:lnTo>
                <a:lnTo>
                  <a:pt x="4054949" y="411480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055013" y="4966739"/>
            <a:ext cx="10725677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u-RU" sz="3200" dirty="0" smtClean="0"/>
              <a:t>ПІБ, </a:t>
            </a:r>
            <a:r>
              <a:rPr lang="ru-RU" sz="3200" dirty="0" err="1" smtClean="0"/>
              <a:t>група</a:t>
            </a:r>
            <a:r>
              <a:rPr lang="ru-RU" sz="3200" dirty="0" smtClean="0"/>
              <a:t>: </a:t>
            </a:r>
            <a:r>
              <a:rPr lang="ru-RU" sz="3200" dirty="0" err="1" smtClean="0"/>
              <a:t>Токар</a:t>
            </a:r>
            <a:r>
              <a:rPr lang="ru-RU" sz="3200" dirty="0" smtClean="0"/>
              <a:t> Денис </a:t>
            </a:r>
            <a:r>
              <a:rPr lang="ru-RU" sz="3200" dirty="0" err="1" smtClean="0"/>
              <a:t>Юрійович</a:t>
            </a:r>
            <a:r>
              <a:rPr lang="ru-RU" sz="3200" dirty="0" smtClean="0"/>
              <a:t>, ПЗПІ-22-1</a:t>
            </a:r>
          </a:p>
          <a:p>
            <a:r>
              <a:rPr lang="ru-RU" sz="3200" dirty="0" err="1" smtClean="0"/>
              <a:t>Керівник</a:t>
            </a:r>
            <a:r>
              <a:rPr lang="ru-RU" sz="3200" dirty="0" smtClean="0"/>
              <a:t>: доц. </a:t>
            </a:r>
            <a:r>
              <a:rPr lang="ru-RU" sz="3200" dirty="0" err="1" smtClean="0"/>
              <a:t>кафедри</a:t>
            </a:r>
            <a:r>
              <a:rPr lang="ru-RU" sz="3200" dirty="0" smtClean="0"/>
              <a:t> ПІ Чуприна А.С.</a:t>
            </a:r>
            <a:endParaRPr lang="ru-RU" sz="3200" dirty="0"/>
          </a:p>
        </p:txBody>
      </p:sp>
      <p:sp>
        <p:nvSpPr>
          <p:cNvPr id="12" name="TextBox 12"/>
          <p:cNvSpPr txBox="1"/>
          <p:nvPr/>
        </p:nvSpPr>
        <p:spPr>
          <a:xfrm>
            <a:off x="1685339" y="1897938"/>
            <a:ext cx="8085583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u-RU" sz="4000" dirty="0" err="1" smtClean="0">
                <a:solidFill>
                  <a:srgbClr val="0D1C38"/>
                </a:solidFill>
                <a:latin typeface="Roca One"/>
                <a:ea typeface="Roca One"/>
                <a:cs typeface="Roca One"/>
                <a:sym typeface="Roca One"/>
              </a:rPr>
              <a:t>Програмна</a:t>
            </a:r>
            <a:r>
              <a:rPr lang="ru-RU" sz="4000" dirty="0" smtClean="0">
                <a:solidFill>
                  <a:srgbClr val="0D1C38"/>
                </a:solidFill>
                <a:latin typeface="Roca One"/>
                <a:ea typeface="Roca One"/>
                <a:cs typeface="Roca One"/>
                <a:sym typeface="Roca One"/>
              </a:rPr>
              <a:t> система для </a:t>
            </a:r>
            <a:r>
              <a:rPr lang="ru-RU" sz="4000" dirty="0" err="1" smtClean="0">
                <a:solidFill>
                  <a:srgbClr val="0D1C38"/>
                </a:solidFill>
                <a:latin typeface="Roca One"/>
                <a:ea typeface="Roca One"/>
                <a:cs typeface="Roca One"/>
                <a:sym typeface="Roca One"/>
              </a:rPr>
              <a:t>безконтактногозамовлення</a:t>
            </a:r>
            <a:r>
              <a:rPr lang="ru-RU" sz="4000" dirty="0" smtClean="0">
                <a:solidFill>
                  <a:srgbClr val="0D1C38"/>
                </a:solidFill>
                <a:latin typeface="Roca One"/>
                <a:ea typeface="Roca One"/>
                <a:cs typeface="Roca One"/>
                <a:sym typeface="Roca One"/>
              </a:rPr>
              <a:t> </a:t>
            </a:r>
            <a:r>
              <a:rPr lang="ru-RU" sz="4000" dirty="0" err="1" smtClean="0">
                <a:solidFill>
                  <a:srgbClr val="0D1C38"/>
                </a:solidFill>
                <a:latin typeface="Roca One"/>
                <a:ea typeface="Roca One"/>
                <a:cs typeface="Roca One"/>
                <a:sym typeface="Roca One"/>
              </a:rPr>
              <a:t>їжі</a:t>
            </a:r>
            <a:r>
              <a:rPr lang="ru-RU" sz="4000" dirty="0" smtClean="0">
                <a:solidFill>
                  <a:srgbClr val="0D1C38"/>
                </a:solidFill>
                <a:latin typeface="Roca One"/>
                <a:ea typeface="Roca One"/>
                <a:cs typeface="Roca One"/>
                <a:sym typeface="Roca One"/>
              </a:rPr>
              <a:t> в </a:t>
            </a:r>
            <a:r>
              <a:rPr lang="ru-RU" sz="4000" dirty="0" err="1" smtClean="0">
                <a:solidFill>
                  <a:srgbClr val="0D1C38"/>
                </a:solidFill>
                <a:latin typeface="Roca One"/>
                <a:ea typeface="Roca One"/>
                <a:cs typeface="Roca One"/>
                <a:sym typeface="Roca One"/>
              </a:rPr>
              <a:t>ресторані</a:t>
            </a:r>
            <a:r>
              <a:rPr lang="ru-RU" sz="4000" dirty="0" smtClean="0">
                <a:solidFill>
                  <a:srgbClr val="0D1C38"/>
                </a:solidFill>
                <a:latin typeface="Roca One"/>
                <a:ea typeface="Roca One"/>
                <a:cs typeface="Roca One"/>
                <a:sym typeface="Roca One"/>
              </a:rPr>
              <a:t> з   </a:t>
            </a:r>
            <a:r>
              <a:rPr lang="ru-RU" sz="4000" dirty="0" err="1" smtClean="0">
                <a:solidFill>
                  <a:srgbClr val="0D1C38"/>
                </a:solidFill>
                <a:latin typeface="Roca One"/>
                <a:ea typeface="Roca One"/>
                <a:cs typeface="Roca One"/>
                <a:sym typeface="Roca One"/>
              </a:rPr>
              <a:t>використанням</a:t>
            </a:r>
            <a:r>
              <a:rPr lang="ru-RU" sz="4000" dirty="0" smtClean="0">
                <a:solidFill>
                  <a:srgbClr val="0D1C38"/>
                </a:solidFill>
                <a:latin typeface="Roca One"/>
                <a:ea typeface="Roca One"/>
                <a:cs typeface="Roca One"/>
                <a:sym typeface="Roca One"/>
              </a:rPr>
              <a:t> QR-</a:t>
            </a:r>
            <a:r>
              <a:rPr lang="ru-RU" sz="4000" dirty="0" err="1" smtClean="0">
                <a:solidFill>
                  <a:srgbClr val="0D1C38"/>
                </a:solidFill>
                <a:latin typeface="Roca One"/>
                <a:ea typeface="Roca One"/>
                <a:cs typeface="Roca One"/>
                <a:sym typeface="Roca One"/>
              </a:rPr>
              <a:t>технологій</a:t>
            </a:r>
            <a:endParaRPr lang="en-US" sz="4000" dirty="0">
              <a:solidFill>
                <a:srgbClr val="0D1C38"/>
              </a:solidFill>
              <a:latin typeface="Roca One"/>
              <a:ea typeface="Roca One"/>
              <a:cs typeface="Roca One"/>
              <a:sym typeface="Roca One"/>
            </a:endParaRPr>
          </a:p>
        </p:txBody>
      </p:sp>
      <p:pic>
        <p:nvPicPr>
          <p:cNvPr id="15" name="Google Shape;65;p1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205474" y="424821"/>
            <a:ext cx="2845300" cy="51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66;p1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469328" y="391887"/>
            <a:ext cx="2566561" cy="585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64;p1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52673" y="5905016"/>
            <a:ext cx="1149667" cy="775667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TextBox 11"/>
          <p:cNvSpPr txBox="1"/>
          <p:nvPr/>
        </p:nvSpPr>
        <p:spPr>
          <a:xfrm>
            <a:off x="4371680" y="6224712"/>
            <a:ext cx="2712899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u-RU" sz="3200" dirty="0" smtClean="0"/>
              <a:t>16 </a:t>
            </a:r>
            <a:r>
              <a:rPr lang="ru-RU" sz="3200" dirty="0" err="1" smtClean="0"/>
              <a:t>липня</a:t>
            </a:r>
            <a:r>
              <a:rPr lang="ru-RU" sz="3200" dirty="0" smtClean="0"/>
              <a:t> 2026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515271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462606" y="-530679"/>
            <a:ext cx="13117210" cy="7742959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r="-1559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75771" y="261258"/>
            <a:ext cx="11640457" cy="6505302"/>
            <a:chOff x="0" y="0"/>
            <a:chExt cx="4274335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334" cy="2167467"/>
            </a:xfrm>
            <a:custGeom>
              <a:avLst/>
              <a:gdLst/>
              <a:ahLst/>
              <a:cxnLst/>
              <a:rect l="l" t="t" r="r" b="b"/>
              <a:pathLst>
                <a:path w="4274334" h="2167467">
                  <a:moveTo>
                    <a:pt x="0" y="0"/>
                  </a:moveTo>
                  <a:lnTo>
                    <a:pt x="4274334" y="0"/>
                  </a:lnTo>
                  <a:lnTo>
                    <a:pt x="4274334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57150"/>
              <a:ext cx="4274335" cy="211031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54"/>
                </a:lnSpc>
              </a:pPr>
              <a:endParaRPr sz="1200"/>
            </a:p>
          </p:txBody>
        </p:sp>
      </p:grpSp>
      <p:sp>
        <p:nvSpPr>
          <p:cNvPr id="6" name="Freeform 6"/>
          <p:cNvSpPr/>
          <p:nvPr/>
        </p:nvSpPr>
        <p:spPr>
          <a:xfrm flipH="1" flipV="1">
            <a:off x="10873364" y="-1541878"/>
            <a:ext cx="5748994" cy="5833850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8623491" y="8750775"/>
                </a:moveTo>
                <a:lnTo>
                  <a:pt x="0" y="8750775"/>
                </a:lnTo>
                <a:lnTo>
                  <a:pt x="0" y="0"/>
                </a:lnTo>
                <a:lnTo>
                  <a:pt x="8623491" y="0"/>
                </a:lnTo>
                <a:lnTo>
                  <a:pt x="8623491" y="875077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11943966">
            <a:off x="-4762654" y="-2958521"/>
            <a:ext cx="5748994" cy="5833850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0" y="0"/>
                </a:moveTo>
                <a:lnTo>
                  <a:pt x="8623491" y="0"/>
                </a:lnTo>
                <a:lnTo>
                  <a:pt x="8623491" y="8750775"/>
                </a:lnTo>
                <a:lnTo>
                  <a:pt x="0" y="87507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>
            <a:off x="4083915" y="6207723"/>
            <a:ext cx="4024171" cy="2202319"/>
          </a:xfrm>
          <a:custGeom>
            <a:avLst/>
            <a:gdLst/>
            <a:ahLst/>
            <a:cxnLst/>
            <a:rect l="l" t="t" r="r" b="b"/>
            <a:pathLst>
              <a:path w="6036256" h="3303478">
                <a:moveTo>
                  <a:pt x="0" y="0"/>
                </a:moveTo>
                <a:lnTo>
                  <a:pt x="6036256" y="0"/>
                </a:lnTo>
                <a:lnTo>
                  <a:pt x="6036256" y="3303479"/>
                </a:lnTo>
                <a:lnTo>
                  <a:pt x="0" y="33034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841826" y="1455667"/>
            <a:ext cx="10508342" cy="36933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Метою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кваліфікаційної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роботи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є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проєктування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розробка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програмної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системи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безконтактного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замовлення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їжі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ресторані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з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використанням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QR-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технологій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Розробка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спрямована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автоматизацію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повного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циклу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обслуговування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гостя —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від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сканування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QR-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коду на столику до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завершення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оплати — без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встановлення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додаткових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застосунків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пристрої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клієнта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замінює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традиційний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ланцюг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«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гість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офіціант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→ кухня →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офіціант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гість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»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єдиним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веб-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інтерфейсом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що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охоплює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перегляд меню,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формування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відправлення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замовлення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відстеження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статусу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приготування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в реальному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часі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виклик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офіціанта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та онлайн-оплату.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3657785" y="670752"/>
            <a:ext cx="4876425" cy="638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33"/>
              </a:lnSpc>
            </a:pPr>
            <a:r>
              <a:rPr lang="uk-UA" sz="4000" dirty="0" smtClean="0">
                <a:solidFill>
                  <a:srgbClr val="0E182F"/>
                </a:solidFill>
                <a:latin typeface="Roca One"/>
                <a:ea typeface="Roca One"/>
                <a:cs typeface="Roca One"/>
                <a:sym typeface="Roca One"/>
              </a:rPr>
              <a:t>Мета</a:t>
            </a:r>
            <a:endParaRPr lang="en-US" sz="6666" dirty="0">
              <a:solidFill>
                <a:srgbClr val="0E182F"/>
              </a:solidFill>
              <a:latin typeface="Roca One"/>
              <a:ea typeface="Roca One"/>
              <a:cs typeface="Roca One"/>
              <a:sym typeface="Roca One"/>
            </a:endParaRPr>
          </a:p>
        </p:txBody>
      </p:sp>
      <p:pic>
        <p:nvPicPr>
          <p:cNvPr id="14" name="Google Shape;64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2673" y="5905016"/>
            <a:ext cx="1149667" cy="7756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62791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462606" y="-530679"/>
            <a:ext cx="13117210" cy="7742959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r="-1559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75771" y="261258"/>
            <a:ext cx="11640457" cy="6505302"/>
            <a:chOff x="0" y="0"/>
            <a:chExt cx="4274335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334" cy="2167467"/>
            </a:xfrm>
            <a:custGeom>
              <a:avLst/>
              <a:gdLst/>
              <a:ahLst/>
              <a:cxnLst/>
              <a:rect l="l" t="t" r="r" b="b"/>
              <a:pathLst>
                <a:path w="4274334" h="2167467">
                  <a:moveTo>
                    <a:pt x="0" y="0"/>
                  </a:moveTo>
                  <a:lnTo>
                    <a:pt x="4274334" y="0"/>
                  </a:lnTo>
                  <a:lnTo>
                    <a:pt x="4274334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57150"/>
              <a:ext cx="4274335" cy="211031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54"/>
                </a:lnSpc>
              </a:pPr>
              <a:endParaRPr sz="1200"/>
            </a:p>
          </p:txBody>
        </p:sp>
      </p:grpSp>
      <p:sp>
        <p:nvSpPr>
          <p:cNvPr id="6" name="Freeform 6"/>
          <p:cNvSpPr/>
          <p:nvPr/>
        </p:nvSpPr>
        <p:spPr>
          <a:xfrm rot="12080048" flipH="1" flipV="1">
            <a:off x="9128816" y="-4969032"/>
            <a:ext cx="5748994" cy="5833850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8623491" y="8750775"/>
                </a:moveTo>
                <a:lnTo>
                  <a:pt x="0" y="8750775"/>
                </a:lnTo>
                <a:lnTo>
                  <a:pt x="0" y="0"/>
                </a:lnTo>
                <a:lnTo>
                  <a:pt x="8623491" y="0"/>
                </a:lnTo>
                <a:lnTo>
                  <a:pt x="8623491" y="875077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19483651">
            <a:off x="12606759" y="2690501"/>
            <a:ext cx="5748994" cy="5833850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0" y="0"/>
                </a:moveTo>
                <a:lnTo>
                  <a:pt x="8623491" y="0"/>
                </a:lnTo>
                <a:lnTo>
                  <a:pt x="8623491" y="8750775"/>
                </a:lnTo>
                <a:lnTo>
                  <a:pt x="0" y="87507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>
            <a:off x="4083915" y="6207723"/>
            <a:ext cx="4024171" cy="2202319"/>
          </a:xfrm>
          <a:custGeom>
            <a:avLst/>
            <a:gdLst/>
            <a:ahLst/>
            <a:cxnLst/>
            <a:rect l="l" t="t" r="r" b="b"/>
            <a:pathLst>
              <a:path w="6036256" h="3303478">
                <a:moveTo>
                  <a:pt x="0" y="0"/>
                </a:moveTo>
                <a:lnTo>
                  <a:pt x="6036256" y="0"/>
                </a:lnTo>
                <a:lnTo>
                  <a:pt x="6036256" y="3303479"/>
                </a:lnTo>
                <a:lnTo>
                  <a:pt x="0" y="33034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656689" y="1416895"/>
            <a:ext cx="11146968" cy="28854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080"/>
              </a:lnSpc>
            </a:pP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Assistant"/>
              </a:rPr>
              <a:t>Основні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Assistant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Assistant"/>
              </a:rPr>
              <a:t>проблеми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Assistant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Assistant"/>
              </a:rPr>
              <a:t>традиційної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Assistant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Assistant"/>
              </a:rPr>
              <a:t>моделі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Assistant"/>
              </a:rPr>
              <a:t>:</a:t>
            </a:r>
          </a:p>
          <a:p>
            <a:pPr marL="457200" indent="-457200">
              <a:lnSpc>
                <a:spcPts val="3080"/>
              </a:lnSpc>
              <a:buFont typeface="+mj-lt"/>
              <a:buAutoNum type="arabicPeriod"/>
            </a:pP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Assistant"/>
              </a:rPr>
              <a:t>Ланцюг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Assistant"/>
              </a:rPr>
              <a:t> «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Assistant"/>
              </a:rPr>
              <a:t>гість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Assistant"/>
              </a:rPr>
              <a:t> →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Assistant"/>
              </a:rPr>
              <a:t>офіціант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Assistant"/>
              </a:rPr>
              <a:t> → кухня →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Assistant"/>
              </a:rPr>
              <a:t>офіціант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Assistant"/>
              </a:rPr>
              <a:t> →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Assistant"/>
              </a:rPr>
              <a:t>гість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Assistant"/>
              </a:rPr>
              <a:t>» —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Assistant"/>
              </a:rPr>
              <a:t> </a:t>
            </a:r>
            <a:r>
              <a:rPr lang="uk-UA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Assistant"/>
              </a:rPr>
              <a:t>це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Assistant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Assistant"/>
              </a:rPr>
              <a:t>джерело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Assistant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Assistant"/>
              </a:rPr>
              <a:t>затримок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Assistant"/>
              </a:rPr>
              <a:t> і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Assistant"/>
              </a:rPr>
              <a:t>помилок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Assistant"/>
              </a:rPr>
              <a:t>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Assistant"/>
            </a:endParaRPr>
          </a:p>
          <a:p>
            <a:pPr marL="457200" indent="-457200">
              <a:lnSpc>
                <a:spcPts val="3080"/>
              </a:lnSpc>
              <a:buFont typeface="+mj-lt"/>
              <a:buAutoNum type="arabicPeriod"/>
            </a:pP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Assistant"/>
              </a:rPr>
              <a:t>Паперові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Assistant"/>
              </a:rPr>
              <a:t> меню —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Assistant"/>
              </a:rPr>
              <a:t>витрати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Assistant"/>
              </a:rPr>
              <a:t> на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Assistant"/>
              </a:rPr>
              <a:t>друк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Assistant"/>
              </a:rPr>
              <a:t>,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Assistant"/>
              </a:rPr>
              <a:t>відсутність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Assistant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Assistant"/>
              </a:rPr>
              <a:t>гнучкості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Assistant"/>
              </a:rPr>
              <a:t>;</a:t>
            </a:r>
          </a:p>
          <a:p>
            <a:pPr marL="457200" indent="-457200">
              <a:lnSpc>
                <a:spcPts val="3080"/>
              </a:lnSpc>
              <a:buFont typeface="+mj-lt"/>
              <a:buAutoNum type="arabicPeriod"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Assistant"/>
              </a:rPr>
              <a:t>В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Assistant"/>
              </a:rPr>
              <a:t>ідсутність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Assistant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Assistant"/>
              </a:rPr>
              <a:t>аналітики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Assistant"/>
              </a:rPr>
              <a:t>.</a:t>
            </a:r>
          </a:p>
          <a:p>
            <a:pPr>
              <a:lnSpc>
                <a:spcPts val="3900"/>
              </a:lnSpc>
            </a:pP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Assistant"/>
              </a:rPr>
              <a:t>Порівняльний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Assistant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Assistant"/>
              </a:rPr>
              <a:t>аналіз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Assistant"/>
              </a:rPr>
              <a:t> 4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Assistant"/>
              </a:rPr>
              <a:t>основних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Assistant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Assistant"/>
              </a:rPr>
              <a:t>рішень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Assistant"/>
              </a:rPr>
              <a:t> на ринку: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  <a:sym typeface="Assistant"/>
            </a:endParaRPr>
          </a:p>
          <a:p>
            <a:pPr>
              <a:lnSpc>
                <a:spcPts val="3080"/>
              </a:lnSpc>
            </a:pP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  <a:sym typeface="Assistant"/>
            </a:endParaRPr>
          </a:p>
          <a:p>
            <a:pPr>
              <a:lnSpc>
                <a:spcPts val="308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Assistant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99887" y="712142"/>
            <a:ext cx="10550160" cy="638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33"/>
              </a:lnSpc>
            </a:pPr>
            <a:r>
              <a:rPr lang="ru-RU" sz="4000" dirty="0" err="1" smtClean="0">
                <a:solidFill>
                  <a:srgbClr val="0E182F"/>
                </a:solidFill>
                <a:latin typeface="Roca One"/>
                <a:ea typeface="Roca One"/>
                <a:cs typeface="Roca One"/>
                <a:sym typeface="Roca One"/>
              </a:rPr>
              <a:t>Аналіз</a:t>
            </a:r>
            <a:r>
              <a:rPr lang="ru-RU" sz="4000" dirty="0" smtClean="0">
                <a:solidFill>
                  <a:srgbClr val="0E182F"/>
                </a:solidFill>
                <a:latin typeface="Roca One"/>
                <a:ea typeface="Roca One"/>
                <a:cs typeface="Roca One"/>
                <a:sym typeface="Roca One"/>
              </a:rPr>
              <a:t> </a:t>
            </a:r>
            <a:r>
              <a:rPr lang="ru-RU" sz="4000" dirty="0" err="1" smtClean="0">
                <a:solidFill>
                  <a:srgbClr val="0E182F"/>
                </a:solidFill>
                <a:latin typeface="Roca One"/>
                <a:ea typeface="Roca One"/>
                <a:cs typeface="Roca One"/>
                <a:sym typeface="Roca One"/>
              </a:rPr>
              <a:t>предметної</a:t>
            </a:r>
            <a:r>
              <a:rPr lang="ru-RU" sz="4000" dirty="0" smtClean="0">
                <a:solidFill>
                  <a:srgbClr val="0E182F"/>
                </a:solidFill>
                <a:latin typeface="Roca One"/>
                <a:ea typeface="Roca One"/>
                <a:cs typeface="Roca One"/>
                <a:sym typeface="Roca One"/>
              </a:rPr>
              <a:t> </a:t>
            </a:r>
            <a:r>
              <a:rPr lang="ru-RU" sz="4000" dirty="0" err="1" smtClean="0">
                <a:solidFill>
                  <a:srgbClr val="0E182F"/>
                </a:solidFill>
                <a:latin typeface="Roca One"/>
                <a:ea typeface="Roca One"/>
                <a:cs typeface="Roca One"/>
                <a:sym typeface="Roca One"/>
              </a:rPr>
              <a:t>галузі</a:t>
            </a:r>
            <a:r>
              <a:rPr lang="ru-RU" sz="4000" dirty="0" smtClean="0">
                <a:solidFill>
                  <a:srgbClr val="0E182F"/>
                </a:solidFill>
                <a:latin typeface="Roca One"/>
                <a:ea typeface="Roca One"/>
                <a:cs typeface="Roca One"/>
                <a:sym typeface="Roca One"/>
              </a:rPr>
              <a:t> та </a:t>
            </a:r>
            <a:r>
              <a:rPr lang="ru-RU" sz="4000" dirty="0" err="1" smtClean="0">
                <a:solidFill>
                  <a:srgbClr val="0E182F"/>
                </a:solidFill>
                <a:latin typeface="Roca One"/>
                <a:ea typeface="Roca One"/>
                <a:cs typeface="Roca One"/>
                <a:sym typeface="Roca One"/>
              </a:rPr>
              <a:t>конкурентів</a:t>
            </a:r>
            <a:endParaRPr lang="en-US" sz="4000" dirty="0">
              <a:solidFill>
                <a:srgbClr val="0E182F"/>
              </a:solidFill>
              <a:latin typeface="Roca One"/>
              <a:ea typeface="Roca One"/>
              <a:cs typeface="Roca One"/>
              <a:sym typeface="Roca One"/>
            </a:endParaRPr>
          </a:p>
        </p:txBody>
      </p:sp>
      <p:pic>
        <p:nvPicPr>
          <p:cNvPr id="14" name="Google Shape;64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2673" y="5905016"/>
            <a:ext cx="1149667" cy="775667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Freeform 6"/>
          <p:cNvSpPr/>
          <p:nvPr/>
        </p:nvSpPr>
        <p:spPr>
          <a:xfrm rot="5784615" flipH="1" flipV="1">
            <a:off x="-4978195" y="-940289"/>
            <a:ext cx="5748994" cy="5833850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8623491" y="8750775"/>
                </a:moveTo>
                <a:lnTo>
                  <a:pt x="0" y="8750775"/>
                </a:lnTo>
                <a:lnTo>
                  <a:pt x="0" y="0"/>
                </a:lnTo>
                <a:lnTo>
                  <a:pt x="8623491" y="0"/>
                </a:lnTo>
                <a:lnTo>
                  <a:pt x="8623491" y="875077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16" name="Таблица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3634805"/>
              </p:ext>
            </p:extLst>
          </p:nvPr>
        </p:nvGraphicFramePr>
        <p:xfrm>
          <a:off x="762381" y="3471696"/>
          <a:ext cx="10428493" cy="243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3776">
                  <a:extLst>
                    <a:ext uri="{9D8B030D-6E8A-4147-A177-3AD203B41FA5}">
                      <a16:colId xmlns:a16="http://schemas.microsoft.com/office/drawing/2014/main" val="2240413560"/>
                    </a:ext>
                  </a:extLst>
                </a:gridCol>
                <a:gridCol w="1620570">
                  <a:extLst>
                    <a:ext uri="{9D8B030D-6E8A-4147-A177-3AD203B41FA5}">
                      <a16:colId xmlns:a16="http://schemas.microsoft.com/office/drawing/2014/main" val="1216816076"/>
                    </a:ext>
                  </a:extLst>
                </a:gridCol>
                <a:gridCol w="1095470">
                  <a:extLst>
                    <a:ext uri="{9D8B030D-6E8A-4147-A177-3AD203B41FA5}">
                      <a16:colId xmlns:a16="http://schemas.microsoft.com/office/drawing/2014/main" val="382428608"/>
                    </a:ext>
                  </a:extLst>
                </a:gridCol>
                <a:gridCol w="1258431">
                  <a:extLst>
                    <a:ext uri="{9D8B030D-6E8A-4147-A177-3AD203B41FA5}">
                      <a16:colId xmlns:a16="http://schemas.microsoft.com/office/drawing/2014/main" val="180705814"/>
                    </a:ext>
                  </a:extLst>
                </a:gridCol>
                <a:gridCol w="1267485">
                  <a:extLst>
                    <a:ext uri="{9D8B030D-6E8A-4147-A177-3AD203B41FA5}">
                      <a16:colId xmlns:a16="http://schemas.microsoft.com/office/drawing/2014/main" val="2961663577"/>
                    </a:ext>
                  </a:extLst>
                </a:gridCol>
                <a:gridCol w="1612761">
                  <a:extLst>
                    <a:ext uri="{9D8B030D-6E8A-4147-A177-3AD203B41FA5}">
                      <a16:colId xmlns:a16="http://schemas.microsoft.com/office/drawing/2014/main" val="32301733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Характеристика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Poster POS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OddMenu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Choice QR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Kavapp</a:t>
                      </a:r>
                      <a:r>
                        <a:rPr lang="en-US" sz="1600" dirty="0" smtClean="0"/>
                        <a:t> QR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Система, </a:t>
                      </a:r>
                      <a:r>
                        <a:rPr lang="ru-RU" sz="1600" dirty="0" err="1" smtClean="0"/>
                        <a:t>що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розробляється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414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QR-</a:t>
                      </a:r>
                      <a:r>
                        <a:rPr lang="ru-RU" sz="1600" dirty="0" smtClean="0"/>
                        <a:t>меню для гостей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/>
                        <a:t>+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/>
                        <a:t>+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+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+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+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2458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 err="1" smtClean="0"/>
                        <a:t>Самостійне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замовлення</a:t>
                      </a:r>
                      <a:r>
                        <a:rPr lang="ru-RU" sz="1600" dirty="0" smtClean="0"/>
                        <a:t> гостем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Через персонал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600" dirty="0" smtClean="0"/>
                        <a:t>-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600" dirty="0" smtClean="0"/>
                        <a:t>+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600" dirty="0" smtClean="0"/>
                        <a:t>-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600" dirty="0" smtClean="0"/>
                        <a:t>+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841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Онлайн-оплата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+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-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+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-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+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964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CRM / </a:t>
                      </a:r>
                      <a:r>
                        <a:rPr lang="ru-RU" sz="1600" dirty="0" err="1" smtClean="0"/>
                        <a:t>історія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замовлень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/>
                        <a:t>-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/>
                        <a:t>-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/>
                        <a:t>+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/>
                        <a:t>-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/>
                        <a:t>+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7277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 err="1" smtClean="0"/>
                        <a:t>Аналітика</a:t>
                      </a:r>
                      <a:r>
                        <a:rPr lang="ru-RU" sz="1600" dirty="0" smtClean="0"/>
                        <a:t> та </a:t>
                      </a:r>
                      <a:r>
                        <a:rPr lang="ru-RU" sz="1600" dirty="0" err="1" smtClean="0"/>
                        <a:t>звітність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err="1" smtClean="0"/>
                        <a:t>Розширена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/>
                        <a:t>-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err="1" smtClean="0"/>
                        <a:t>Розширена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err="1" smtClean="0"/>
                        <a:t>Базова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err="1" smtClean="0"/>
                        <a:t>Базова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31921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2215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462606" y="-530679"/>
            <a:ext cx="13117210" cy="7742959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r="-1559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75771" y="261258"/>
            <a:ext cx="11640457" cy="6505302"/>
            <a:chOff x="0" y="0"/>
            <a:chExt cx="4274335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334" cy="2167467"/>
            </a:xfrm>
            <a:custGeom>
              <a:avLst/>
              <a:gdLst/>
              <a:ahLst/>
              <a:cxnLst/>
              <a:rect l="l" t="t" r="r" b="b"/>
              <a:pathLst>
                <a:path w="4274334" h="2167467">
                  <a:moveTo>
                    <a:pt x="0" y="0"/>
                  </a:moveTo>
                  <a:lnTo>
                    <a:pt x="4274334" y="0"/>
                  </a:lnTo>
                  <a:lnTo>
                    <a:pt x="4274334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57150"/>
              <a:ext cx="4274335" cy="211031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54"/>
                </a:lnSpc>
              </a:pPr>
              <a:endParaRPr sz="1200"/>
            </a:p>
          </p:txBody>
        </p:sp>
      </p:grpSp>
      <p:sp>
        <p:nvSpPr>
          <p:cNvPr id="6" name="Freeform 6"/>
          <p:cNvSpPr/>
          <p:nvPr/>
        </p:nvSpPr>
        <p:spPr>
          <a:xfrm rot="17556307" flipH="1" flipV="1">
            <a:off x="11314987" y="3763760"/>
            <a:ext cx="5748994" cy="5833850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8623491" y="8750775"/>
                </a:moveTo>
                <a:lnTo>
                  <a:pt x="0" y="8750775"/>
                </a:lnTo>
                <a:lnTo>
                  <a:pt x="0" y="0"/>
                </a:lnTo>
                <a:lnTo>
                  <a:pt x="8623491" y="0"/>
                </a:lnTo>
                <a:lnTo>
                  <a:pt x="8623491" y="875077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4481473">
            <a:off x="-3527441" y="-4197375"/>
            <a:ext cx="5748994" cy="5833850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0" y="0"/>
                </a:moveTo>
                <a:lnTo>
                  <a:pt x="8623491" y="0"/>
                </a:lnTo>
                <a:lnTo>
                  <a:pt x="8623491" y="8750775"/>
                </a:lnTo>
                <a:lnTo>
                  <a:pt x="0" y="87507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>
            <a:off x="4083915" y="6207723"/>
            <a:ext cx="4024171" cy="2202319"/>
          </a:xfrm>
          <a:custGeom>
            <a:avLst/>
            <a:gdLst/>
            <a:ahLst/>
            <a:cxnLst/>
            <a:rect l="l" t="t" r="r" b="b"/>
            <a:pathLst>
              <a:path w="6036256" h="3303478">
                <a:moveTo>
                  <a:pt x="0" y="0"/>
                </a:moveTo>
                <a:lnTo>
                  <a:pt x="6036256" y="0"/>
                </a:lnTo>
                <a:lnTo>
                  <a:pt x="6036256" y="3303479"/>
                </a:lnTo>
                <a:lnTo>
                  <a:pt x="0" y="33034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841826" y="1407099"/>
            <a:ext cx="10508342" cy="48628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 BYOD(</a:t>
            </a:r>
            <a:r>
              <a:rPr lang="en-US" sz="2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Bring Your Own Device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— смартфон гостя як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персональний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термінал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без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встановлення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застосунків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Bef>
                <a:spcPts val="1800"/>
              </a:spcBef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ролі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користувачів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Гість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сканує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QR,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замовляє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відстежує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статус,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оплачує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Кухар —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KDS-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дошка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з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Kanban-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статусами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страв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у реальному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часі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меню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Офіціант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— карта залу,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виклики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редагування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замовлення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Адміністратор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повний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доступ: меню, персонал,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аналітика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налаштування</a:t>
            </a:r>
            <a:endParaRPr lang="ru-RU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</a:pP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монетизації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Freemium: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Free: QR-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меню,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KDS,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карта залу,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готівкова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оплата, до 50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страв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 5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зображень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до 3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акаунтів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персоналу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Premium: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онлайн-оплата </a:t>
            </a: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LiqPay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аналітика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PDF-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меню,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відгуки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Google Translate,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необмежено</a:t>
            </a:r>
            <a:endParaRPr lang="ru-RU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301910" y="649791"/>
            <a:ext cx="9588174" cy="679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33"/>
              </a:lnSpc>
            </a:pPr>
            <a:r>
              <a:rPr lang="ru-RU" sz="4000" dirty="0" err="1" smtClean="0">
                <a:solidFill>
                  <a:srgbClr val="0E182F"/>
                </a:solidFill>
                <a:latin typeface="Roca One"/>
                <a:ea typeface="Roca One"/>
                <a:cs typeface="Roca One"/>
                <a:sym typeface="Roca One"/>
              </a:rPr>
              <a:t>Концепція</a:t>
            </a:r>
            <a:r>
              <a:rPr lang="ru-RU" sz="4000" dirty="0" smtClean="0">
                <a:solidFill>
                  <a:srgbClr val="0E182F"/>
                </a:solidFill>
                <a:latin typeface="Roca One"/>
                <a:ea typeface="Roca One"/>
                <a:cs typeface="Roca One"/>
                <a:sym typeface="Roca One"/>
              </a:rPr>
              <a:t> </a:t>
            </a:r>
            <a:r>
              <a:rPr lang="ru-RU" sz="4000" dirty="0" err="1" smtClean="0">
                <a:solidFill>
                  <a:srgbClr val="0E182F"/>
                </a:solidFill>
                <a:latin typeface="Roca One"/>
                <a:ea typeface="Roca One"/>
                <a:cs typeface="Roca One"/>
                <a:sym typeface="Roca One"/>
              </a:rPr>
              <a:t>системи</a:t>
            </a:r>
            <a:r>
              <a:rPr lang="ru-RU" sz="4000" dirty="0" smtClean="0">
                <a:solidFill>
                  <a:srgbClr val="0E182F"/>
                </a:solidFill>
                <a:latin typeface="Roca One"/>
                <a:ea typeface="Roca One"/>
                <a:cs typeface="Roca One"/>
                <a:sym typeface="Roca One"/>
              </a:rPr>
              <a:t> та </a:t>
            </a:r>
            <a:r>
              <a:rPr lang="ru-RU" sz="4000" dirty="0" err="1" smtClean="0">
                <a:solidFill>
                  <a:srgbClr val="0E182F"/>
                </a:solidFill>
                <a:latin typeface="Roca One"/>
                <a:ea typeface="Roca One"/>
                <a:cs typeface="Roca One"/>
                <a:sym typeface="Roca One"/>
              </a:rPr>
              <a:t>рольова</a:t>
            </a:r>
            <a:r>
              <a:rPr lang="ru-RU" sz="4000" dirty="0" smtClean="0">
                <a:solidFill>
                  <a:srgbClr val="0E182F"/>
                </a:solidFill>
                <a:latin typeface="Roca One"/>
                <a:ea typeface="Roca One"/>
                <a:cs typeface="Roca One"/>
                <a:sym typeface="Roca One"/>
              </a:rPr>
              <a:t> модель</a:t>
            </a:r>
            <a:endParaRPr lang="en-US" sz="6666" dirty="0">
              <a:solidFill>
                <a:srgbClr val="0E182F"/>
              </a:solidFill>
              <a:latin typeface="Roca One"/>
              <a:ea typeface="Roca One"/>
              <a:cs typeface="Roca One"/>
              <a:sym typeface="Roca One"/>
            </a:endParaRPr>
          </a:p>
        </p:txBody>
      </p:sp>
      <p:pic>
        <p:nvPicPr>
          <p:cNvPr id="14" name="Google Shape;64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2673" y="5905016"/>
            <a:ext cx="1149667" cy="7756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81845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462606" y="-530679"/>
            <a:ext cx="13117210" cy="7742959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r="-1559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75771" y="0"/>
            <a:ext cx="11640457" cy="6766560"/>
            <a:chOff x="0" y="0"/>
            <a:chExt cx="4274335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334" cy="2167467"/>
            </a:xfrm>
            <a:custGeom>
              <a:avLst/>
              <a:gdLst/>
              <a:ahLst/>
              <a:cxnLst/>
              <a:rect l="l" t="t" r="r" b="b"/>
              <a:pathLst>
                <a:path w="4274334" h="2167467">
                  <a:moveTo>
                    <a:pt x="0" y="0"/>
                  </a:moveTo>
                  <a:lnTo>
                    <a:pt x="4274334" y="0"/>
                  </a:lnTo>
                  <a:lnTo>
                    <a:pt x="4274334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57150"/>
              <a:ext cx="4274335" cy="211031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54"/>
                </a:lnSpc>
              </a:pPr>
              <a:endParaRPr sz="1200"/>
            </a:p>
          </p:txBody>
        </p:sp>
      </p:grpSp>
      <p:sp>
        <p:nvSpPr>
          <p:cNvPr id="6" name="Freeform 6"/>
          <p:cNvSpPr/>
          <p:nvPr/>
        </p:nvSpPr>
        <p:spPr>
          <a:xfrm flipH="1" flipV="1">
            <a:off x="10873364" y="-1541878"/>
            <a:ext cx="5748994" cy="5833850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8623491" y="8750775"/>
                </a:moveTo>
                <a:lnTo>
                  <a:pt x="0" y="8750775"/>
                </a:lnTo>
                <a:lnTo>
                  <a:pt x="0" y="0"/>
                </a:lnTo>
                <a:lnTo>
                  <a:pt x="8623491" y="0"/>
                </a:lnTo>
                <a:lnTo>
                  <a:pt x="8623491" y="875077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11943966">
            <a:off x="-4762654" y="-2958521"/>
            <a:ext cx="5748994" cy="5833850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0" y="0"/>
                </a:moveTo>
                <a:lnTo>
                  <a:pt x="8623491" y="0"/>
                </a:lnTo>
                <a:lnTo>
                  <a:pt x="8623491" y="8750775"/>
                </a:lnTo>
                <a:lnTo>
                  <a:pt x="0" y="87507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>
            <a:off x="4083915" y="6207723"/>
            <a:ext cx="4024171" cy="2202319"/>
          </a:xfrm>
          <a:custGeom>
            <a:avLst/>
            <a:gdLst/>
            <a:ahLst/>
            <a:cxnLst/>
            <a:rect l="l" t="t" r="r" b="b"/>
            <a:pathLst>
              <a:path w="6036256" h="3303478">
                <a:moveTo>
                  <a:pt x="0" y="0"/>
                </a:moveTo>
                <a:lnTo>
                  <a:pt x="6036256" y="0"/>
                </a:lnTo>
                <a:lnTo>
                  <a:pt x="6036256" y="3303479"/>
                </a:lnTo>
                <a:lnTo>
                  <a:pt x="0" y="33034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841826" y="679673"/>
            <a:ext cx="10508342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ReactJS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18 (SPA/PWA),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Vite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i18next</a:t>
            </a:r>
            <a:endParaRPr lang="uk-UA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Node.js 18 LTS, Express.js,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WebSocket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uk-UA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БД: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MongoDB 6.0+, Mongoose ODM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Інтеграції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LiqPay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Google OAuth 2.0, AWS S3, Resend, Google Translate API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696162" y="0"/>
            <a:ext cx="8799670" cy="679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33"/>
              </a:lnSpc>
            </a:pPr>
            <a:r>
              <a:rPr lang="uk-UA" sz="4000" dirty="0" smtClean="0">
                <a:solidFill>
                  <a:srgbClr val="0E182F"/>
                </a:solidFill>
                <a:latin typeface="Roca One"/>
                <a:ea typeface="Roca One"/>
                <a:cs typeface="Roca One"/>
                <a:sym typeface="Roca One"/>
              </a:rPr>
              <a:t>Технологічний стек та архітектура</a:t>
            </a:r>
            <a:endParaRPr lang="en-US" sz="6666" dirty="0">
              <a:solidFill>
                <a:srgbClr val="0E182F"/>
              </a:solidFill>
              <a:latin typeface="Roca One"/>
              <a:ea typeface="Roca One"/>
              <a:cs typeface="Roca One"/>
              <a:sym typeface="Roca One"/>
            </a:endParaRPr>
          </a:p>
        </p:txBody>
      </p:sp>
      <p:pic>
        <p:nvPicPr>
          <p:cNvPr id="14" name="Google Shape;64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2673" y="5905016"/>
            <a:ext cx="1149667" cy="775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Рисунок 11"/>
          <p:cNvPicPr/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9242" y="2214645"/>
            <a:ext cx="9444650" cy="451148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65372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462606" y="-530679"/>
            <a:ext cx="13117210" cy="7742959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r="-1559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75771" y="0"/>
            <a:ext cx="11640457" cy="6766560"/>
            <a:chOff x="0" y="0"/>
            <a:chExt cx="4274335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334" cy="2167467"/>
            </a:xfrm>
            <a:custGeom>
              <a:avLst/>
              <a:gdLst/>
              <a:ahLst/>
              <a:cxnLst/>
              <a:rect l="l" t="t" r="r" b="b"/>
              <a:pathLst>
                <a:path w="4274334" h="2167467">
                  <a:moveTo>
                    <a:pt x="0" y="0"/>
                  </a:moveTo>
                  <a:lnTo>
                    <a:pt x="4274334" y="0"/>
                  </a:lnTo>
                  <a:lnTo>
                    <a:pt x="4274334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57150"/>
              <a:ext cx="4274335" cy="211031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54"/>
                </a:lnSpc>
              </a:pPr>
              <a:endParaRPr sz="1200"/>
            </a:p>
          </p:txBody>
        </p:sp>
      </p:grpSp>
      <p:sp>
        <p:nvSpPr>
          <p:cNvPr id="6" name="Freeform 6"/>
          <p:cNvSpPr/>
          <p:nvPr/>
        </p:nvSpPr>
        <p:spPr>
          <a:xfrm rot="12080048" flipH="1" flipV="1">
            <a:off x="9128816" y="-4969032"/>
            <a:ext cx="5748994" cy="5833850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8623491" y="8750775"/>
                </a:moveTo>
                <a:lnTo>
                  <a:pt x="0" y="8750775"/>
                </a:lnTo>
                <a:lnTo>
                  <a:pt x="0" y="0"/>
                </a:lnTo>
                <a:lnTo>
                  <a:pt x="8623491" y="0"/>
                </a:lnTo>
                <a:lnTo>
                  <a:pt x="8623491" y="875077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19483651">
            <a:off x="12606759" y="2690501"/>
            <a:ext cx="5748994" cy="5833850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0" y="0"/>
                </a:moveTo>
                <a:lnTo>
                  <a:pt x="8623491" y="0"/>
                </a:lnTo>
                <a:lnTo>
                  <a:pt x="8623491" y="8750775"/>
                </a:lnTo>
                <a:lnTo>
                  <a:pt x="0" y="87507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656689" y="1416895"/>
            <a:ext cx="11146968" cy="79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080"/>
              </a:lnSpc>
            </a:pP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  <a:sym typeface="Assistant"/>
            </a:endParaRPr>
          </a:p>
          <a:p>
            <a:pPr>
              <a:lnSpc>
                <a:spcPts val="308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Assistant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99889" y="111894"/>
            <a:ext cx="10550160" cy="679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33"/>
              </a:lnSpc>
            </a:pPr>
            <a:r>
              <a:rPr lang="ru-RU" sz="4000" dirty="0" err="1" smtClean="0">
                <a:solidFill>
                  <a:srgbClr val="0E182F"/>
                </a:solidFill>
                <a:latin typeface="Roca One"/>
                <a:ea typeface="Roca One"/>
                <a:cs typeface="Roca One"/>
                <a:sym typeface="Roca One"/>
              </a:rPr>
              <a:t>Проєктування</a:t>
            </a:r>
            <a:r>
              <a:rPr lang="ru-RU" sz="4000" dirty="0" smtClean="0">
                <a:solidFill>
                  <a:srgbClr val="0E182F"/>
                </a:solidFill>
                <a:latin typeface="Roca One"/>
                <a:ea typeface="Roca One"/>
                <a:cs typeface="Roca One"/>
                <a:sym typeface="Roca One"/>
              </a:rPr>
              <a:t>: UML-</a:t>
            </a:r>
            <a:r>
              <a:rPr lang="ru-RU" sz="4000" dirty="0" err="1" smtClean="0">
                <a:solidFill>
                  <a:srgbClr val="0E182F"/>
                </a:solidFill>
                <a:latin typeface="Roca One"/>
                <a:ea typeface="Roca One"/>
                <a:cs typeface="Roca One"/>
                <a:sym typeface="Roca One"/>
              </a:rPr>
              <a:t>діаграми</a:t>
            </a:r>
            <a:r>
              <a:rPr lang="ru-RU" sz="4000" dirty="0" smtClean="0">
                <a:solidFill>
                  <a:srgbClr val="0E182F"/>
                </a:solidFill>
                <a:latin typeface="Roca One"/>
                <a:ea typeface="Roca One"/>
                <a:cs typeface="Roca One"/>
                <a:sym typeface="Roca One"/>
              </a:rPr>
              <a:t> </a:t>
            </a:r>
            <a:r>
              <a:rPr lang="en-US" sz="4000" dirty="0" smtClean="0">
                <a:solidFill>
                  <a:srgbClr val="0E182F"/>
                </a:solidFill>
                <a:latin typeface="Roca One"/>
                <a:ea typeface="Roca One"/>
                <a:cs typeface="Roca One"/>
                <a:sym typeface="Roca One"/>
              </a:rPr>
              <a:t>use case</a:t>
            </a:r>
            <a:endParaRPr lang="en-US" sz="4000" dirty="0">
              <a:solidFill>
                <a:srgbClr val="0E182F"/>
              </a:solidFill>
              <a:latin typeface="Roca One"/>
              <a:ea typeface="Roca One"/>
              <a:cs typeface="Roca One"/>
              <a:sym typeface="Roca One"/>
            </a:endParaRPr>
          </a:p>
        </p:txBody>
      </p:sp>
      <p:pic>
        <p:nvPicPr>
          <p:cNvPr id="14" name="Google Shape;64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2673" y="5905016"/>
            <a:ext cx="1149667" cy="775667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Freeform 6"/>
          <p:cNvSpPr/>
          <p:nvPr/>
        </p:nvSpPr>
        <p:spPr>
          <a:xfrm rot="5784615" flipH="1" flipV="1">
            <a:off x="-4978195" y="-940289"/>
            <a:ext cx="5748994" cy="5833850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8623491" y="8750775"/>
                </a:moveTo>
                <a:lnTo>
                  <a:pt x="0" y="8750775"/>
                </a:lnTo>
                <a:lnTo>
                  <a:pt x="0" y="0"/>
                </a:lnTo>
                <a:lnTo>
                  <a:pt x="8623491" y="0"/>
                </a:lnTo>
                <a:lnTo>
                  <a:pt x="8623491" y="875077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pic>
        <p:nvPicPr>
          <p:cNvPr id="15" name="Рисунок 14"/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664" y="846249"/>
            <a:ext cx="3514299" cy="317633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7" name="Рисунок 16"/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3676" y="838948"/>
            <a:ext cx="3615718" cy="288045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8" name="Рисунок 17"/>
          <p:cNvPicPr/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3676" y="4035317"/>
            <a:ext cx="4691409" cy="247464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9" name="Рисунок 18"/>
          <p:cNvPicPr/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0273" y="866666"/>
            <a:ext cx="3994687" cy="297616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20" name="TextBox 10"/>
          <p:cNvSpPr txBox="1"/>
          <p:nvPr/>
        </p:nvSpPr>
        <p:spPr>
          <a:xfrm>
            <a:off x="438664" y="3719402"/>
            <a:ext cx="3798524" cy="5578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33"/>
              </a:lnSpc>
            </a:pPr>
            <a:r>
              <a:rPr lang="en-US" sz="1600" dirty="0" smtClean="0">
                <a:solidFill>
                  <a:srgbClr val="0E182F"/>
                </a:solidFill>
                <a:latin typeface="Times New Roman" panose="02020603050405020304" pitchFamily="18" charset="0"/>
                <a:ea typeface="Roca One"/>
                <a:cs typeface="Times New Roman" panose="02020603050405020304" pitchFamily="18" charset="0"/>
                <a:sym typeface="Roca One"/>
              </a:rPr>
              <a:t>Use case - </a:t>
            </a:r>
            <a:r>
              <a:rPr lang="uk-UA" sz="1600" dirty="0" smtClean="0">
                <a:solidFill>
                  <a:srgbClr val="0E182F"/>
                </a:solidFill>
                <a:latin typeface="Times New Roman" panose="02020603050405020304" pitchFamily="18" charset="0"/>
                <a:ea typeface="Roca One"/>
                <a:cs typeface="Times New Roman" panose="02020603050405020304" pitchFamily="18" charset="0"/>
                <a:sym typeface="Roca One"/>
              </a:rPr>
              <a:t>Клієнт</a:t>
            </a:r>
            <a:endParaRPr lang="en-US" sz="1600" dirty="0">
              <a:solidFill>
                <a:srgbClr val="0E182F"/>
              </a:solidFill>
              <a:latin typeface="Times New Roman" panose="02020603050405020304" pitchFamily="18" charset="0"/>
              <a:ea typeface="Roca One"/>
              <a:cs typeface="Times New Roman" panose="02020603050405020304" pitchFamily="18" charset="0"/>
              <a:sym typeface="Roca One"/>
            </a:endParaRPr>
          </a:p>
        </p:txBody>
      </p:sp>
      <p:sp>
        <p:nvSpPr>
          <p:cNvPr id="21" name="TextBox 10"/>
          <p:cNvSpPr txBox="1"/>
          <p:nvPr/>
        </p:nvSpPr>
        <p:spPr>
          <a:xfrm>
            <a:off x="8117701" y="3553114"/>
            <a:ext cx="3798524" cy="5578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33"/>
              </a:lnSpc>
            </a:pPr>
            <a:r>
              <a:rPr lang="en-US" sz="1600" dirty="0" smtClean="0">
                <a:solidFill>
                  <a:srgbClr val="0E182F"/>
                </a:solidFill>
                <a:latin typeface="Times New Roman" panose="02020603050405020304" pitchFamily="18" charset="0"/>
                <a:ea typeface="Roca One"/>
                <a:cs typeface="Times New Roman" panose="02020603050405020304" pitchFamily="18" charset="0"/>
                <a:sym typeface="Roca One"/>
              </a:rPr>
              <a:t>Use case - </a:t>
            </a:r>
            <a:r>
              <a:rPr lang="uk-UA" sz="1600" dirty="0" smtClean="0">
                <a:solidFill>
                  <a:srgbClr val="0E182F"/>
                </a:solidFill>
                <a:latin typeface="Times New Roman" panose="02020603050405020304" pitchFamily="18" charset="0"/>
                <a:ea typeface="Roca One"/>
                <a:cs typeface="Times New Roman" panose="02020603050405020304" pitchFamily="18" charset="0"/>
                <a:sym typeface="Roca One"/>
              </a:rPr>
              <a:t>Офіціант</a:t>
            </a:r>
            <a:endParaRPr lang="en-US" sz="1600" dirty="0">
              <a:solidFill>
                <a:srgbClr val="0E182F"/>
              </a:solidFill>
              <a:latin typeface="Times New Roman" panose="02020603050405020304" pitchFamily="18" charset="0"/>
              <a:ea typeface="Roca One"/>
              <a:cs typeface="Times New Roman" panose="02020603050405020304" pitchFamily="18" charset="0"/>
              <a:sym typeface="Roca One"/>
            </a:endParaRPr>
          </a:p>
        </p:txBody>
      </p:sp>
      <p:sp>
        <p:nvSpPr>
          <p:cNvPr id="22" name="TextBox 10"/>
          <p:cNvSpPr txBox="1"/>
          <p:nvPr/>
        </p:nvSpPr>
        <p:spPr>
          <a:xfrm>
            <a:off x="3920484" y="3433682"/>
            <a:ext cx="3798524" cy="5578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33"/>
              </a:lnSpc>
            </a:pPr>
            <a:r>
              <a:rPr lang="en-US" sz="1600" dirty="0" smtClean="0">
                <a:solidFill>
                  <a:srgbClr val="0E182F"/>
                </a:solidFill>
                <a:latin typeface="Times New Roman" panose="02020603050405020304" pitchFamily="18" charset="0"/>
                <a:ea typeface="Roca One"/>
                <a:cs typeface="Times New Roman" panose="02020603050405020304" pitchFamily="18" charset="0"/>
                <a:sym typeface="Roca One"/>
              </a:rPr>
              <a:t>Use case - </a:t>
            </a:r>
            <a:r>
              <a:rPr lang="uk-UA" sz="1600" dirty="0" smtClean="0">
                <a:solidFill>
                  <a:srgbClr val="0E182F"/>
                </a:solidFill>
                <a:latin typeface="Times New Roman" panose="02020603050405020304" pitchFamily="18" charset="0"/>
                <a:ea typeface="Roca One"/>
                <a:cs typeface="Times New Roman" panose="02020603050405020304" pitchFamily="18" charset="0"/>
                <a:sym typeface="Roca One"/>
              </a:rPr>
              <a:t>Адміністратор</a:t>
            </a:r>
            <a:endParaRPr lang="en-US" sz="1600" dirty="0">
              <a:solidFill>
                <a:srgbClr val="0E182F"/>
              </a:solidFill>
              <a:latin typeface="Times New Roman" panose="02020603050405020304" pitchFamily="18" charset="0"/>
              <a:ea typeface="Roca One"/>
              <a:cs typeface="Times New Roman" panose="02020603050405020304" pitchFamily="18" charset="0"/>
              <a:sym typeface="Roca One"/>
            </a:endParaRPr>
          </a:p>
        </p:txBody>
      </p:sp>
      <p:sp>
        <p:nvSpPr>
          <p:cNvPr id="23" name="TextBox 10"/>
          <p:cNvSpPr txBox="1"/>
          <p:nvPr/>
        </p:nvSpPr>
        <p:spPr>
          <a:xfrm>
            <a:off x="4540118" y="6174976"/>
            <a:ext cx="3798524" cy="5578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33"/>
              </a:lnSpc>
            </a:pPr>
            <a:r>
              <a:rPr lang="en-US" sz="1600" dirty="0" smtClean="0">
                <a:solidFill>
                  <a:srgbClr val="0E182F"/>
                </a:solidFill>
                <a:latin typeface="Times New Roman" panose="02020603050405020304" pitchFamily="18" charset="0"/>
                <a:ea typeface="Roca One"/>
                <a:cs typeface="Times New Roman" panose="02020603050405020304" pitchFamily="18" charset="0"/>
                <a:sym typeface="Roca One"/>
              </a:rPr>
              <a:t>Use case - </a:t>
            </a:r>
            <a:r>
              <a:rPr lang="uk-UA" sz="1600" dirty="0" smtClean="0">
                <a:solidFill>
                  <a:srgbClr val="0E182F"/>
                </a:solidFill>
                <a:latin typeface="Times New Roman" panose="02020603050405020304" pitchFamily="18" charset="0"/>
                <a:ea typeface="Roca One"/>
                <a:cs typeface="Times New Roman" panose="02020603050405020304" pitchFamily="18" charset="0"/>
                <a:sym typeface="Roca One"/>
              </a:rPr>
              <a:t>Кухар</a:t>
            </a:r>
            <a:endParaRPr lang="en-US" sz="1600" dirty="0">
              <a:solidFill>
                <a:srgbClr val="0E182F"/>
              </a:solidFill>
              <a:latin typeface="Times New Roman" panose="02020603050405020304" pitchFamily="18" charset="0"/>
              <a:ea typeface="Roca One"/>
              <a:cs typeface="Times New Roman" panose="02020603050405020304" pitchFamily="18" charset="0"/>
              <a:sym typeface="Roca One"/>
            </a:endParaRPr>
          </a:p>
        </p:txBody>
      </p:sp>
    </p:spTree>
    <p:extLst>
      <p:ext uri="{BB962C8B-B14F-4D97-AF65-F5344CB8AC3E}">
        <p14:creationId xmlns:p14="http://schemas.microsoft.com/office/powerpoint/2010/main" val="3770018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462606" y="-530679"/>
            <a:ext cx="13117210" cy="7742959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r="-1559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" y="261258"/>
            <a:ext cx="11916228" cy="6505302"/>
            <a:chOff x="0" y="0"/>
            <a:chExt cx="4274335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334" cy="2167467"/>
            </a:xfrm>
            <a:custGeom>
              <a:avLst/>
              <a:gdLst/>
              <a:ahLst/>
              <a:cxnLst/>
              <a:rect l="l" t="t" r="r" b="b"/>
              <a:pathLst>
                <a:path w="4274334" h="2167467">
                  <a:moveTo>
                    <a:pt x="0" y="0"/>
                  </a:moveTo>
                  <a:lnTo>
                    <a:pt x="4274334" y="0"/>
                  </a:lnTo>
                  <a:lnTo>
                    <a:pt x="4274334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57150"/>
              <a:ext cx="4274335" cy="211031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54"/>
                </a:lnSpc>
              </a:pPr>
              <a:endParaRPr sz="1200"/>
            </a:p>
          </p:txBody>
        </p:sp>
      </p:grpSp>
      <p:sp>
        <p:nvSpPr>
          <p:cNvPr id="6" name="Freeform 6"/>
          <p:cNvSpPr/>
          <p:nvPr/>
        </p:nvSpPr>
        <p:spPr>
          <a:xfrm rot="17556307" flipH="1" flipV="1">
            <a:off x="11314987" y="3763760"/>
            <a:ext cx="5748994" cy="5833850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8623491" y="8750775"/>
                </a:moveTo>
                <a:lnTo>
                  <a:pt x="0" y="8750775"/>
                </a:lnTo>
                <a:lnTo>
                  <a:pt x="0" y="0"/>
                </a:lnTo>
                <a:lnTo>
                  <a:pt x="8623491" y="0"/>
                </a:lnTo>
                <a:lnTo>
                  <a:pt x="8623491" y="875077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4481473">
            <a:off x="-3527441" y="-4197375"/>
            <a:ext cx="5748994" cy="5833850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0" y="0"/>
                </a:moveTo>
                <a:lnTo>
                  <a:pt x="8623491" y="0"/>
                </a:lnTo>
                <a:lnTo>
                  <a:pt x="8623491" y="8750775"/>
                </a:lnTo>
                <a:lnTo>
                  <a:pt x="0" y="87507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0" y="745041"/>
            <a:ext cx="4886325" cy="20352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33"/>
              </a:lnSpc>
            </a:pPr>
            <a:r>
              <a:rPr lang="en-US" sz="3200" dirty="0" smtClean="0">
                <a:solidFill>
                  <a:srgbClr val="0E182F"/>
                </a:solidFill>
                <a:latin typeface="Roca One"/>
                <a:ea typeface="Roca One"/>
                <a:cs typeface="Roca One"/>
                <a:sym typeface="Roca One"/>
              </a:rPr>
              <a:t>Sequence-</a:t>
            </a:r>
            <a:r>
              <a:rPr lang="ru-RU" sz="3200" dirty="0" err="1" smtClean="0">
                <a:solidFill>
                  <a:srgbClr val="0E182F"/>
                </a:solidFill>
                <a:latin typeface="Roca One"/>
                <a:ea typeface="Roca One"/>
                <a:cs typeface="Roca One"/>
                <a:sym typeface="Roca One"/>
              </a:rPr>
              <a:t>діаграма</a:t>
            </a:r>
            <a:r>
              <a:rPr lang="ru-RU" sz="3200" dirty="0" smtClean="0">
                <a:solidFill>
                  <a:srgbClr val="0E182F"/>
                </a:solidFill>
                <a:latin typeface="Roca One"/>
                <a:ea typeface="Roca One"/>
                <a:cs typeface="Roca One"/>
                <a:sym typeface="Roca One"/>
              </a:rPr>
              <a:t> </a:t>
            </a:r>
            <a:r>
              <a:rPr lang="ru-RU" sz="3200" dirty="0" err="1" smtClean="0">
                <a:solidFill>
                  <a:srgbClr val="0E182F"/>
                </a:solidFill>
                <a:latin typeface="Roca One"/>
                <a:ea typeface="Roca One"/>
                <a:cs typeface="Roca One"/>
                <a:sym typeface="Roca One"/>
              </a:rPr>
              <a:t>повного</a:t>
            </a:r>
            <a:r>
              <a:rPr lang="ru-RU" sz="3200" dirty="0" smtClean="0">
                <a:solidFill>
                  <a:srgbClr val="0E182F"/>
                </a:solidFill>
                <a:latin typeface="Roca One"/>
                <a:ea typeface="Roca One"/>
                <a:cs typeface="Roca One"/>
                <a:sym typeface="Roca One"/>
              </a:rPr>
              <a:t> циклу </a:t>
            </a:r>
            <a:r>
              <a:rPr lang="ru-RU" sz="3200" dirty="0" err="1" smtClean="0">
                <a:solidFill>
                  <a:srgbClr val="0E182F"/>
                </a:solidFill>
                <a:latin typeface="Roca One"/>
                <a:ea typeface="Roca One"/>
                <a:cs typeface="Roca One"/>
                <a:sym typeface="Roca One"/>
              </a:rPr>
              <a:t>замовлення</a:t>
            </a:r>
            <a:endParaRPr lang="en-US" sz="6000" dirty="0">
              <a:solidFill>
                <a:srgbClr val="0E182F"/>
              </a:solidFill>
              <a:latin typeface="Roca One"/>
              <a:ea typeface="Roca One"/>
              <a:cs typeface="Roca One"/>
              <a:sym typeface="Roca One"/>
            </a:endParaRPr>
          </a:p>
        </p:txBody>
      </p:sp>
      <p:pic>
        <p:nvPicPr>
          <p:cNvPr id="12" name="Рисунок 11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9650" y="432784"/>
            <a:ext cx="6848817" cy="615851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043" y="2801639"/>
            <a:ext cx="3752206" cy="347263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5" name="TextBox 10"/>
          <p:cNvSpPr txBox="1"/>
          <p:nvPr/>
        </p:nvSpPr>
        <p:spPr>
          <a:xfrm>
            <a:off x="551884" y="5969024"/>
            <a:ext cx="3798524" cy="5578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33"/>
              </a:lnSpc>
            </a:pPr>
            <a:r>
              <a:rPr lang="uk-UA" sz="1600" dirty="0" smtClean="0">
                <a:solidFill>
                  <a:srgbClr val="0E182F"/>
                </a:solidFill>
                <a:latin typeface="Times New Roman" panose="02020603050405020304" pitchFamily="18" charset="0"/>
                <a:ea typeface="Roca One"/>
                <a:cs typeface="Times New Roman" panose="02020603050405020304" pitchFamily="18" charset="0"/>
                <a:sym typeface="Roca One"/>
              </a:rPr>
              <a:t>Діаграма станів замовлення</a:t>
            </a:r>
            <a:endParaRPr lang="en-US" sz="1600" dirty="0">
              <a:solidFill>
                <a:srgbClr val="0E182F"/>
              </a:solidFill>
              <a:latin typeface="Times New Roman" panose="02020603050405020304" pitchFamily="18" charset="0"/>
              <a:ea typeface="Roca One"/>
              <a:cs typeface="Times New Roman" panose="02020603050405020304" pitchFamily="18" charset="0"/>
              <a:sym typeface="Roca One"/>
            </a:endParaRPr>
          </a:p>
        </p:txBody>
      </p:sp>
    </p:spTree>
    <p:extLst>
      <p:ext uri="{BB962C8B-B14F-4D97-AF65-F5344CB8AC3E}">
        <p14:creationId xmlns:p14="http://schemas.microsoft.com/office/powerpoint/2010/main" val="1080895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462606" y="-530679"/>
            <a:ext cx="13117210" cy="7742959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r="-1559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75771" y="261258"/>
            <a:ext cx="11640457" cy="6505302"/>
            <a:chOff x="0" y="0"/>
            <a:chExt cx="4274335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334" cy="2167467"/>
            </a:xfrm>
            <a:custGeom>
              <a:avLst/>
              <a:gdLst/>
              <a:ahLst/>
              <a:cxnLst/>
              <a:rect l="l" t="t" r="r" b="b"/>
              <a:pathLst>
                <a:path w="4274334" h="2167467">
                  <a:moveTo>
                    <a:pt x="0" y="0"/>
                  </a:moveTo>
                  <a:lnTo>
                    <a:pt x="4274334" y="0"/>
                  </a:lnTo>
                  <a:lnTo>
                    <a:pt x="4274334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57150"/>
              <a:ext cx="4274335" cy="211031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54"/>
                </a:lnSpc>
              </a:pPr>
              <a:endParaRPr sz="1200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301910" y="649791"/>
            <a:ext cx="9588174" cy="6265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33"/>
              </a:lnSpc>
            </a:pPr>
            <a:r>
              <a:rPr lang="ru-RU" sz="4000" dirty="0" smtClean="0">
                <a:solidFill>
                  <a:srgbClr val="0E182F"/>
                </a:solidFill>
                <a:latin typeface="Roca One"/>
                <a:ea typeface="Roca One"/>
                <a:cs typeface="Roca One"/>
                <a:sym typeface="Roca One"/>
              </a:rPr>
              <a:t>Структура </a:t>
            </a:r>
            <a:r>
              <a:rPr lang="ru-RU" sz="4000" dirty="0" err="1" smtClean="0">
                <a:solidFill>
                  <a:srgbClr val="0E182F"/>
                </a:solidFill>
                <a:latin typeface="Roca One"/>
                <a:ea typeface="Roca One"/>
                <a:cs typeface="Roca One"/>
                <a:sym typeface="Roca One"/>
              </a:rPr>
              <a:t>бази</a:t>
            </a:r>
            <a:r>
              <a:rPr lang="ru-RU" sz="4000" dirty="0" smtClean="0">
                <a:solidFill>
                  <a:srgbClr val="0E182F"/>
                </a:solidFill>
                <a:latin typeface="Roca One"/>
                <a:ea typeface="Roca One"/>
                <a:cs typeface="Roca One"/>
                <a:sym typeface="Roca One"/>
              </a:rPr>
              <a:t> </a:t>
            </a:r>
            <a:r>
              <a:rPr lang="ru-RU" sz="4000" dirty="0" err="1" smtClean="0">
                <a:solidFill>
                  <a:srgbClr val="0E182F"/>
                </a:solidFill>
                <a:latin typeface="Roca One"/>
                <a:ea typeface="Roca One"/>
                <a:cs typeface="Roca One"/>
                <a:sym typeface="Roca One"/>
              </a:rPr>
              <a:t>даних</a:t>
            </a:r>
            <a:endParaRPr lang="en-US" sz="6666" dirty="0">
              <a:solidFill>
                <a:srgbClr val="0E182F"/>
              </a:solidFill>
              <a:latin typeface="Roca One"/>
              <a:ea typeface="Roca One"/>
              <a:cs typeface="Roca One"/>
              <a:sym typeface="Roca One"/>
            </a:endParaRPr>
          </a:p>
        </p:txBody>
      </p:sp>
      <p:sp>
        <p:nvSpPr>
          <p:cNvPr id="12" name="Freeform 6"/>
          <p:cNvSpPr/>
          <p:nvPr/>
        </p:nvSpPr>
        <p:spPr>
          <a:xfrm flipH="1" flipV="1">
            <a:off x="10873364" y="-1541878"/>
            <a:ext cx="5748994" cy="5833850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8623491" y="8750775"/>
                </a:moveTo>
                <a:lnTo>
                  <a:pt x="0" y="8750775"/>
                </a:lnTo>
                <a:lnTo>
                  <a:pt x="0" y="0"/>
                </a:lnTo>
                <a:lnTo>
                  <a:pt x="8623491" y="0"/>
                </a:lnTo>
                <a:lnTo>
                  <a:pt x="8623491" y="875077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7"/>
          <p:cNvSpPr/>
          <p:nvPr/>
        </p:nvSpPr>
        <p:spPr>
          <a:xfrm rot="11943966">
            <a:off x="-4762654" y="-2958521"/>
            <a:ext cx="5748994" cy="5833850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0" y="0"/>
                </a:moveTo>
                <a:lnTo>
                  <a:pt x="8623491" y="0"/>
                </a:lnTo>
                <a:lnTo>
                  <a:pt x="8623491" y="8750775"/>
                </a:lnTo>
                <a:lnTo>
                  <a:pt x="0" y="87507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8"/>
          <p:cNvSpPr/>
          <p:nvPr/>
        </p:nvSpPr>
        <p:spPr>
          <a:xfrm rot="10800000">
            <a:off x="4083915" y="6207723"/>
            <a:ext cx="4024171" cy="2202319"/>
          </a:xfrm>
          <a:custGeom>
            <a:avLst/>
            <a:gdLst/>
            <a:ahLst/>
            <a:cxnLst/>
            <a:rect l="l" t="t" r="r" b="b"/>
            <a:pathLst>
              <a:path w="6036256" h="3303478">
                <a:moveTo>
                  <a:pt x="0" y="0"/>
                </a:moveTo>
                <a:lnTo>
                  <a:pt x="6036256" y="0"/>
                </a:lnTo>
                <a:lnTo>
                  <a:pt x="6036256" y="3303479"/>
                </a:lnTo>
                <a:lnTo>
                  <a:pt x="0" y="33034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267" y="1349989"/>
            <a:ext cx="11431327" cy="515558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61659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462606" y="-530679"/>
            <a:ext cx="13117210" cy="7742959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r="-1559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75771" y="261258"/>
            <a:ext cx="11640457" cy="6505302"/>
            <a:chOff x="0" y="0"/>
            <a:chExt cx="4274335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334" cy="2167467"/>
            </a:xfrm>
            <a:custGeom>
              <a:avLst/>
              <a:gdLst/>
              <a:ahLst/>
              <a:cxnLst/>
              <a:rect l="l" t="t" r="r" b="b"/>
              <a:pathLst>
                <a:path w="4274334" h="2167467">
                  <a:moveTo>
                    <a:pt x="0" y="0"/>
                  </a:moveTo>
                  <a:lnTo>
                    <a:pt x="4274334" y="0"/>
                  </a:lnTo>
                  <a:lnTo>
                    <a:pt x="4274334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57150"/>
              <a:ext cx="4274335" cy="211031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54"/>
                </a:lnSpc>
              </a:pPr>
              <a:endParaRPr sz="1200"/>
            </a:p>
          </p:txBody>
        </p:sp>
      </p:grpSp>
      <p:sp>
        <p:nvSpPr>
          <p:cNvPr id="6" name="Freeform 6"/>
          <p:cNvSpPr/>
          <p:nvPr/>
        </p:nvSpPr>
        <p:spPr>
          <a:xfrm rot="17556307" flipH="1" flipV="1">
            <a:off x="11314987" y="3763760"/>
            <a:ext cx="5748994" cy="5833850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8623491" y="8750775"/>
                </a:moveTo>
                <a:lnTo>
                  <a:pt x="0" y="8750775"/>
                </a:lnTo>
                <a:lnTo>
                  <a:pt x="0" y="0"/>
                </a:lnTo>
                <a:lnTo>
                  <a:pt x="8623491" y="0"/>
                </a:lnTo>
                <a:lnTo>
                  <a:pt x="8623491" y="875077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4481473">
            <a:off x="-3527441" y="-4197375"/>
            <a:ext cx="5748994" cy="5833850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0" y="0"/>
                </a:moveTo>
                <a:lnTo>
                  <a:pt x="8623491" y="0"/>
                </a:lnTo>
                <a:lnTo>
                  <a:pt x="8623491" y="8750775"/>
                </a:lnTo>
                <a:lnTo>
                  <a:pt x="0" y="87507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6820440" y="4824597"/>
            <a:ext cx="4155541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Хук 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Websocket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`</a:t>
            </a:r>
            <a:r>
              <a:rPr lang="uk-UA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єднання та 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Websocket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</a:t>
            </a:r>
            <a:r>
              <a:rPr lang="uk-UA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імнати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301911" y="557217"/>
            <a:ext cx="9588174" cy="679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33"/>
              </a:lnSpc>
            </a:pPr>
            <a:r>
              <a:rPr lang="ru-RU" sz="4000" dirty="0" smtClean="0">
                <a:solidFill>
                  <a:srgbClr val="0E182F"/>
                </a:solidFill>
                <a:latin typeface="Roca One"/>
                <a:ea typeface="Roca One"/>
                <a:cs typeface="Roca One"/>
                <a:sym typeface="Roca One"/>
              </a:rPr>
              <a:t>Приклад</a:t>
            </a:r>
            <a:r>
              <a:rPr lang="uk-UA" sz="4000" dirty="0">
                <a:solidFill>
                  <a:srgbClr val="0E182F"/>
                </a:solidFill>
                <a:latin typeface="Roca One"/>
                <a:ea typeface="Roca One"/>
                <a:cs typeface="Roca One"/>
                <a:sym typeface="Roca One"/>
              </a:rPr>
              <a:t>и</a:t>
            </a:r>
            <a:r>
              <a:rPr lang="ru-RU" sz="4000" dirty="0" smtClean="0">
                <a:solidFill>
                  <a:srgbClr val="0E182F"/>
                </a:solidFill>
                <a:latin typeface="Roca One"/>
                <a:ea typeface="Roca One"/>
                <a:cs typeface="Roca One"/>
                <a:sym typeface="Roca One"/>
              </a:rPr>
              <a:t> </a:t>
            </a:r>
            <a:r>
              <a:rPr lang="ru-RU" sz="4000" dirty="0" err="1" smtClean="0">
                <a:solidFill>
                  <a:srgbClr val="0E182F"/>
                </a:solidFill>
                <a:latin typeface="Roca One"/>
                <a:ea typeface="Roca One"/>
                <a:cs typeface="Roca One"/>
                <a:sym typeface="Roca One"/>
              </a:rPr>
              <a:t>реалізації</a:t>
            </a:r>
            <a:endParaRPr lang="en-US" sz="6666" dirty="0">
              <a:solidFill>
                <a:srgbClr val="0E182F"/>
              </a:solidFill>
              <a:latin typeface="Roca One"/>
              <a:ea typeface="Roca One"/>
              <a:cs typeface="Roca One"/>
              <a:sym typeface="Roca One"/>
            </a:endParaRPr>
          </a:p>
        </p:txBody>
      </p:sp>
      <p:pic>
        <p:nvPicPr>
          <p:cNvPr id="14" name="Google Shape;64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2673" y="5905016"/>
            <a:ext cx="1149667" cy="775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0402" y="3782492"/>
            <a:ext cx="5633930" cy="980121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0402" y="1411137"/>
            <a:ext cx="5633930" cy="2289037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081" y="1395744"/>
            <a:ext cx="3279569" cy="1904266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081" y="3362478"/>
            <a:ext cx="3792768" cy="269841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7" name="TextBox 9"/>
          <p:cNvSpPr txBox="1"/>
          <p:nvPr/>
        </p:nvSpPr>
        <p:spPr>
          <a:xfrm>
            <a:off x="1642969" y="6072557"/>
            <a:ext cx="3814880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Хук для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підтримки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багатомовності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та приклад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структури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об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`</a:t>
            </a:r>
            <a:r>
              <a:rPr lang="uk-UA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є</a:t>
            </a:r>
            <a:r>
              <a:rPr lang="uk-UA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кта</a:t>
            </a:r>
            <a:r>
              <a:rPr lang="uk-UA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(позиція меню)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243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462606" y="-530679"/>
            <a:ext cx="13117210" cy="7742959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r="-1559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75771" y="-66675"/>
            <a:ext cx="11782879" cy="6833235"/>
            <a:chOff x="0" y="0"/>
            <a:chExt cx="4274335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334" cy="2167467"/>
            </a:xfrm>
            <a:custGeom>
              <a:avLst/>
              <a:gdLst/>
              <a:ahLst/>
              <a:cxnLst/>
              <a:rect l="l" t="t" r="r" b="b"/>
              <a:pathLst>
                <a:path w="4274334" h="2167467">
                  <a:moveTo>
                    <a:pt x="0" y="0"/>
                  </a:moveTo>
                  <a:lnTo>
                    <a:pt x="4274334" y="0"/>
                  </a:lnTo>
                  <a:lnTo>
                    <a:pt x="4274334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57150"/>
              <a:ext cx="4274335" cy="211031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54"/>
                </a:lnSpc>
              </a:pPr>
              <a:endParaRPr sz="1200"/>
            </a:p>
          </p:txBody>
        </p:sp>
      </p:grpSp>
      <p:sp>
        <p:nvSpPr>
          <p:cNvPr id="6" name="Freeform 6"/>
          <p:cNvSpPr/>
          <p:nvPr/>
        </p:nvSpPr>
        <p:spPr>
          <a:xfrm rot="17556307" flipH="1" flipV="1">
            <a:off x="10852863" y="4759359"/>
            <a:ext cx="5748994" cy="5833850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8623491" y="8750775"/>
                </a:moveTo>
                <a:lnTo>
                  <a:pt x="0" y="8750775"/>
                </a:lnTo>
                <a:lnTo>
                  <a:pt x="0" y="0"/>
                </a:lnTo>
                <a:lnTo>
                  <a:pt x="8623491" y="0"/>
                </a:lnTo>
                <a:lnTo>
                  <a:pt x="8623491" y="875077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4481473">
            <a:off x="-3527441" y="-4197375"/>
            <a:ext cx="5748994" cy="5833850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0" y="0"/>
                </a:moveTo>
                <a:lnTo>
                  <a:pt x="8623491" y="0"/>
                </a:lnTo>
                <a:lnTo>
                  <a:pt x="8623491" y="8750775"/>
                </a:lnTo>
                <a:lnTo>
                  <a:pt x="0" y="87507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730885" y="3459469"/>
            <a:ext cx="1469043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uk-UA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Інтерфейс гостя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301911" y="-47613"/>
            <a:ext cx="9588174" cy="6265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33"/>
              </a:lnSpc>
            </a:pPr>
            <a:r>
              <a:rPr lang="ru-RU" sz="4000" dirty="0" err="1" smtClean="0">
                <a:solidFill>
                  <a:srgbClr val="0E182F"/>
                </a:solidFill>
                <a:latin typeface="Roca One"/>
                <a:ea typeface="Roca One"/>
                <a:cs typeface="Roca One"/>
                <a:sym typeface="Roca One"/>
              </a:rPr>
              <a:t>Інтерфейси</a:t>
            </a:r>
            <a:r>
              <a:rPr lang="ru-RU" sz="4000" dirty="0" smtClean="0">
                <a:solidFill>
                  <a:srgbClr val="0E182F"/>
                </a:solidFill>
                <a:latin typeface="Roca One"/>
                <a:ea typeface="Roca One"/>
                <a:cs typeface="Roca One"/>
                <a:sym typeface="Roca One"/>
              </a:rPr>
              <a:t> </a:t>
            </a:r>
            <a:r>
              <a:rPr lang="ru-RU" sz="4000" dirty="0" err="1" smtClean="0">
                <a:solidFill>
                  <a:srgbClr val="0E182F"/>
                </a:solidFill>
                <a:latin typeface="Roca One"/>
                <a:ea typeface="Roca One"/>
                <a:cs typeface="Roca One"/>
                <a:sym typeface="Roca One"/>
              </a:rPr>
              <a:t>користувачів</a:t>
            </a:r>
            <a:r>
              <a:rPr lang="ru-RU" sz="4000" dirty="0" smtClean="0">
                <a:solidFill>
                  <a:srgbClr val="0E182F"/>
                </a:solidFill>
                <a:latin typeface="Roca One"/>
                <a:ea typeface="Roca One"/>
                <a:cs typeface="Roca One"/>
                <a:sym typeface="Roca One"/>
              </a:rPr>
              <a:t> </a:t>
            </a:r>
            <a:r>
              <a:rPr lang="ru-RU" sz="4000" dirty="0" err="1" smtClean="0">
                <a:solidFill>
                  <a:srgbClr val="0E182F"/>
                </a:solidFill>
                <a:latin typeface="Roca One"/>
                <a:ea typeface="Roca One"/>
                <a:cs typeface="Roca One"/>
                <a:sym typeface="Roca One"/>
              </a:rPr>
              <a:t>системи</a:t>
            </a:r>
            <a:endParaRPr lang="en-US" sz="6666" dirty="0">
              <a:solidFill>
                <a:srgbClr val="0E182F"/>
              </a:solidFill>
              <a:latin typeface="Roca One"/>
              <a:ea typeface="Roca One"/>
              <a:cs typeface="Roca One"/>
              <a:sym typeface="Roca One"/>
            </a:endParaRP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071" y="574457"/>
            <a:ext cx="1338996" cy="2880000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2750" y="600355"/>
            <a:ext cx="1347953" cy="2880000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70267" y="597967"/>
            <a:ext cx="1337625" cy="2880000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8251" y="600263"/>
            <a:ext cx="3600000" cy="2569023"/>
          </a:xfrm>
          <a:prstGeom prst="rect">
            <a:avLst/>
          </a:prstGeom>
        </p:spPr>
      </p:pic>
      <p:pic>
        <p:nvPicPr>
          <p:cNvPr id="17" name="Рисунок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90565" y="603548"/>
            <a:ext cx="3600000" cy="2562455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8903" y="3829994"/>
            <a:ext cx="3735645" cy="2645375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76907" y="3598802"/>
            <a:ext cx="3600000" cy="2565234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58251" y="3592210"/>
            <a:ext cx="3600000" cy="2565674"/>
          </a:xfrm>
          <a:prstGeom prst="rect">
            <a:avLst/>
          </a:prstGeom>
        </p:spPr>
      </p:pic>
      <p:sp>
        <p:nvSpPr>
          <p:cNvPr id="21" name="TextBox 9"/>
          <p:cNvSpPr txBox="1"/>
          <p:nvPr/>
        </p:nvSpPr>
        <p:spPr>
          <a:xfrm>
            <a:off x="1631660" y="6452007"/>
            <a:ext cx="1469043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Kanban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кухаря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9"/>
          <p:cNvSpPr txBox="1"/>
          <p:nvPr/>
        </p:nvSpPr>
        <p:spPr>
          <a:xfrm>
            <a:off x="7365646" y="3191470"/>
            <a:ext cx="1985209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uk-UA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Інтерфейс офіціанта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9"/>
          <p:cNvSpPr txBox="1"/>
          <p:nvPr/>
        </p:nvSpPr>
        <p:spPr>
          <a:xfrm>
            <a:off x="7197577" y="6205786"/>
            <a:ext cx="2321346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uk-UA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Інтерфейс адміністратора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7916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462606" y="-530679"/>
            <a:ext cx="13117210" cy="7742959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r="-1559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63200" y="0"/>
            <a:ext cx="11640457" cy="6858000"/>
            <a:chOff x="0" y="0"/>
            <a:chExt cx="4274335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334" cy="2167467"/>
            </a:xfrm>
            <a:custGeom>
              <a:avLst/>
              <a:gdLst/>
              <a:ahLst/>
              <a:cxnLst/>
              <a:rect l="l" t="t" r="r" b="b"/>
              <a:pathLst>
                <a:path w="4274334" h="2167467">
                  <a:moveTo>
                    <a:pt x="0" y="0"/>
                  </a:moveTo>
                  <a:lnTo>
                    <a:pt x="4274334" y="0"/>
                  </a:lnTo>
                  <a:lnTo>
                    <a:pt x="4274334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57150"/>
              <a:ext cx="4274335" cy="211031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54"/>
                </a:lnSpc>
              </a:pPr>
              <a:endParaRPr sz="1200"/>
            </a:p>
          </p:txBody>
        </p:sp>
      </p:grpSp>
      <p:sp>
        <p:nvSpPr>
          <p:cNvPr id="6" name="Freeform 6"/>
          <p:cNvSpPr/>
          <p:nvPr/>
        </p:nvSpPr>
        <p:spPr>
          <a:xfrm rot="12080048" flipH="1" flipV="1">
            <a:off x="9128816" y="-4969032"/>
            <a:ext cx="5748994" cy="5833850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8623491" y="8750775"/>
                </a:moveTo>
                <a:lnTo>
                  <a:pt x="0" y="8750775"/>
                </a:lnTo>
                <a:lnTo>
                  <a:pt x="0" y="0"/>
                </a:lnTo>
                <a:lnTo>
                  <a:pt x="8623491" y="0"/>
                </a:lnTo>
                <a:lnTo>
                  <a:pt x="8623491" y="875077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19483651">
            <a:off x="12606759" y="2690501"/>
            <a:ext cx="5748994" cy="5833850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0" y="0"/>
                </a:moveTo>
                <a:lnTo>
                  <a:pt x="8623491" y="0"/>
                </a:lnTo>
                <a:lnTo>
                  <a:pt x="8623491" y="8750775"/>
                </a:lnTo>
                <a:lnTo>
                  <a:pt x="0" y="87507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656689" y="1416895"/>
            <a:ext cx="11146968" cy="79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080"/>
              </a:lnSpc>
            </a:pP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  <a:sym typeface="Assistant"/>
            </a:endParaRPr>
          </a:p>
          <a:p>
            <a:pPr>
              <a:lnSpc>
                <a:spcPts val="308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Assistant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99889" y="21320"/>
            <a:ext cx="10550160" cy="6265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33"/>
              </a:lnSpc>
            </a:pPr>
            <a:r>
              <a:rPr lang="ru-RU" sz="4000" dirty="0" err="1" smtClean="0">
                <a:solidFill>
                  <a:srgbClr val="0E182F"/>
                </a:solidFill>
                <a:latin typeface="Roca One"/>
                <a:ea typeface="Roca One"/>
                <a:cs typeface="Roca One"/>
                <a:sym typeface="Roca One"/>
              </a:rPr>
              <a:t>Тестування</a:t>
            </a:r>
            <a:endParaRPr lang="en-US" sz="4000" dirty="0">
              <a:solidFill>
                <a:srgbClr val="0E182F"/>
              </a:solidFill>
              <a:latin typeface="Roca One"/>
              <a:ea typeface="Roca One"/>
              <a:cs typeface="Roca One"/>
              <a:sym typeface="Roca One"/>
            </a:endParaRPr>
          </a:p>
        </p:txBody>
      </p:sp>
      <p:sp>
        <p:nvSpPr>
          <p:cNvPr id="13" name="Freeform 6"/>
          <p:cNvSpPr/>
          <p:nvPr/>
        </p:nvSpPr>
        <p:spPr>
          <a:xfrm rot="5784615" flipH="1" flipV="1">
            <a:off x="-4978195" y="-940289"/>
            <a:ext cx="5748994" cy="5833850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8623491" y="8750775"/>
                </a:moveTo>
                <a:lnTo>
                  <a:pt x="0" y="8750775"/>
                </a:lnTo>
                <a:lnTo>
                  <a:pt x="0" y="0"/>
                </a:lnTo>
                <a:lnTo>
                  <a:pt x="8623491" y="0"/>
                </a:lnTo>
                <a:lnTo>
                  <a:pt x="8623491" y="875077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9"/>
          <p:cNvSpPr txBox="1"/>
          <p:nvPr/>
        </p:nvSpPr>
        <p:spPr>
          <a:xfrm>
            <a:off x="841828" y="617276"/>
            <a:ext cx="10508342" cy="23698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Рівень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1 —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Автоматизоване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тестування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API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сервера: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Фреймворк: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Jest + </a:t>
            </a: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supertest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-memory-server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278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тестів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17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наборів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QR-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сканування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замовлення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KDS,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платежі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RBAC, </a:t>
            </a: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WebSocket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аналітика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i18n, </a:t>
            </a:r>
            <a:r>
              <a:rPr lang="uk-UA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 інтеграцій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Всі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278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тестів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пройдено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успішно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Рівень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2 —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Ручне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тестування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клієнтського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інтерфейсу</a:t>
            </a:r>
            <a:endParaRPr lang="ru-RU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Результати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ручного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тестування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основних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клієнтських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сценаріїв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використання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8291556"/>
              </p:ext>
            </p:extLst>
          </p:nvPr>
        </p:nvGraphicFramePr>
        <p:xfrm>
          <a:off x="597311" y="2964716"/>
          <a:ext cx="10997376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9002">
                  <a:extLst>
                    <a:ext uri="{9D8B030D-6E8A-4147-A177-3AD203B41FA5}">
                      <a16:colId xmlns:a16="http://schemas.microsoft.com/office/drawing/2014/main" val="2606725144"/>
                    </a:ext>
                  </a:extLst>
                </a:gridCol>
                <a:gridCol w="3800475">
                  <a:extLst>
                    <a:ext uri="{9D8B030D-6E8A-4147-A177-3AD203B41FA5}">
                      <a16:colId xmlns:a16="http://schemas.microsoft.com/office/drawing/2014/main" val="509742081"/>
                    </a:ext>
                  </a:extLst>
                </a:gridCol>
                <a:gridCol w="4600575">
                  <a:extLst>
                    <a:ext uri="{9D8B030D-6E8A-4147-A177-3AD203B41FA5}">
                      <a16:colId xmlns:a16="http://schemas.microsoft.com/office/drawing/2014/main" val="2653483947"/>
                    </a:ext>
                  </a:extLst>
                </a:gridCol>
                <a:gridCol w="1077324">
                  <a:extLst>
                    <a:ext uri="{9D8B030D-6E8A-4147-A177-3AD203B41FA5}">
                      <a16:colId xmlns:a16="http://schemas.microsoft.com/office/drawing/2014/main" val="2349166571"/>
                    </a:ext>
                  </a:extLst>
                </a:gridCol>
              </a:tblGrid>
              <a:tr h="294058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err="1" smtClean="0"/>
                        <a:t>Ідентифікатор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err="1" smtClean="0"/>
                        <a:t>Сценарій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err="1" smtClean="0"/>
                        <a:t>Очікуваний</a:t>
                      </a:r>
                      <a:r>
                        <a:rPr lang="ru-RU" sz="1600" dirty="0" smtClean="0"/>
                        <a:t> результат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/>
                        <a:t>Статус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9535591"/>
                  </a:ext>
                </a:extLst>
              </a:tr>
              <a:tr h="49148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UC-QR-01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err="1" smtClean="0"/>
                        <a:t>Сканування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дійсного</a:t>
                      </a:r>
                      <a:r>
                        <a:rPr lang="ru-RU" sz="1600" dirty="0" smtClean="0"/>
                        <a:t> </a:t>
                      </a:r>
                      <a:r>
                        <a:rPr lang="en-US" sz="1600" dirty="0" smtClean="0"/>
                        <a:t>QR-</a:t>
                      </a:r>
                      <a:r>
                        <a:rPr lang="ru-RU" sz="1600" dirty="0" smtClean="0"/>
                        <a:t>коду гостем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SPA </a:t>
                      </a:r>
                      <a:r>
                        <a:rPr lang="ru-RU" sz="1600" dirty="0" err="1" smtClean="0"/>
                        <a:t>зберігає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сесію</a:t>
                      </a:r>
                      <a:r>
                        <a:rPr lang="ru-RU" sz="1600" dirty="0" smtClean="0"/>
                        <a:t> в </a:t>
                      </a:r>
                      <a:r>
                        <a:rPr lang="en-US" sz="1600" dirty="0" err="1" smtClean="0"/>
                        <a:t>localStorage</a:t>
                      </a:r>
                      <a:r>
                        <a:rPr lang="en-US" sz="1600" dirty="0" smtClean="0"/>
                        <a:t> </a:t>
                      </a:r>
                      <a:r>
                        <a:rPr lang="ru-RU" sz="1600" dirty="0" smtClean="0"/>
                        <a:t>і </a:t>
                      </a:r>
                      <a:r>
                        <a:rPr lang="ru-RU" sz="1600" dirty="0" err="1" smtClean="0"/>
                        <a:t>перенаправляє</a:t>
                      </a:r>
                      <a:r>
                        <a:rPr lang="ru-RU" sz="1600" dirty="0" smtClean="0"/>
                        <a:t> на </a:t>
                      </a:r>
                      <a:r>
                        <a:rPr lang="ru-RU" sz="1600" dirty="0" err="1" smtClean="0"/>
                        <a:t>сторінку</a:t>
                      </a:r>
                      <a:r>
                        <a:rPr lang="ru-RU" sz="1600" dirty="0" smtClean="0"/>
                        <a:t> меню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/>
                        <a:t>Пройдено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2410903"/>
                  </a:ext>
                </a:extLst>
              </a:tr>
              <a:tr h="49148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UC-ORDER-03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err="1" smtClean="0"/>
                        <a:t>Спроба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оформити</a:t>
                      </a:r>
                      <a:r>
                        <a:rPr lang="ru-RU" sz="1600" dirty="0" smtClean="0"/>
                        <a:t> друге </a:t>
                      </a:r>
                      <a:r>
                        <a:rPr lang="ru-RU" sz="1600" dirty="0" err="1" smtClean="0"/>
                        <a:t>активне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замовлення</a:t>
                      </a:r>
                      <a:r>
                        <a:rPr lang="ru-RU" sz="1600" dirty="0" smtClean="0"/>
                        <a:t> з того ж </a:t>
                      </a:r>
                      <a:r>
                        <a:rPr lang="ru-RU" sz="1600" dirty="0" err="1" smtClean="0"/>
                        <a:t>акаунту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/>
                        <a:t>Сервер </a:t>
                      </a:r>
                      <a:r>
                        <a:rPr lang="ru-RU" sz="1600" dirty="0" err="1" smtClean="0"/>
                        <a:t>повертає</a:t>
                      </a:r>
                      <a:r>
                        <a:rPr lang="ru-RU" sz="1600" dirty="0" smtClean="0"/>
                        <a:t> </a:t>
                      </a:r>
                      <a:r>
                        <a:rPr lang="en-US" sz="1600" dirty="0" smtClean="0"/>
                        <a:t>HTTP 409; </a:t>
                      </a:r>
                      <a:r>
                        <a:rPr lang="ru-RU" sz="1600" dirty="0" err="1" smtClean="0"/>
                        <a:t>інтерфейс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показує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банер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із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посиланням</a:t>
                      </a:r>
                      <a:r>
                        <a:rPr lang="ru-RU" sz="1600" dirty="0" smtClean="0"/>
                        <a:t> на </a:t>
                      </a:r>
                      <a:r>
                        <a:rPr lang="ru-RU" sz="1600" dirty="0" err="1" smtClean="0"/>
                        <a:t>наявне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замовлення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/>
                        <a:t>Пройдено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338293"/>
                  </a:ext>
                </a:extLst>
              </a:tr>
              <a:tr h="49148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UC-CART-01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err="1" smtClean="0"/>
                        <a:t>Підтвердження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кошика</a:t>
                      </a:r>
                      <a:r>
                        <a:rPr lang="ru-RU" sz="1600" dirty="0" smtClean="0"/>
                        <a:t> з </a:t>
                      </a:r>
                      <a:r>
                        <a:rPr lang="ru-RU" sz="1600" dirty="0" err="1" smtClean="0"/>
                        <a:t>кількома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стравами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err="1" smtClean="0"/>
                        <a:t>Замовлення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майже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миттєво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з’являється</a:t>
                      </a:r>
                      <a:r>
                        <a:rPr lang="ru-RU" sz="1600" dirty="0" smtClean="0"/>
                        <a:t> на </a:t>
                      </a:r>
                      <a:r>
                        <a:rPr lang="ru-RU" sz="1600" dirty="0" err="1" smtClean="0"/>
                        <a:t>дошці</a:t>
                      </a:r>
                      <a:r>
                        <a:rPr lang="ru-RU" sz="1600" dirty="0" smtClean="0"/>
                        <a:t> кухаря через </a:t>
                      </a:r>
                      <a:r>
                        <a:rPr lang="ru-RU" sz="1600" dirty="0" err="1" smtClean="0"/>
                        <a:t>WebSocket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/>
                        <a:t>Пройдено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7883766"/>
                  </a:ext>
                </a:extLst>
              </a:tr>
              <a:tr h="49148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UC-STATUS-01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/>
                        <a:t>Кухар переводить </a:t>
                      </a:r>
                      <a:r>
                        <a:rPr lang="ru-RU" sz="1600" dirty="0" err="1" smtClean="0"/>
                        <a:t>групу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подачі</a:t>
                      </a:r>
                      <a:r>
                        <a:rPr lang="ru-RU" sz="1600" dirty="0" smtClean="0"/>
                        <a:t> у </a:t>
                      </a:r>
                      <a:r>
                        <a:rPr lang="ru-RU" sz="1600" dirty="0" err="1" smtClean="0"/>
                        <a:t>наступний</a:t>
                      </a:r>
                      <a:r>
                        <a:rPr lang="ru-RU" sz="1600" dirty="0" smtClean="0"/>
                        <a:t> стан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err="1" smtClean="0"/>
                        <a:t>Сторінка</a:t>
                      </a:r>
                      <a:r>
                        <a:rPr lang="ru-RU" sz="1600" dirty="0" smtClean="0"/>
                        <a:t> статусу </a:t>
                      </a:r>
                      <a:r>
                        <a:rPr lang="ru-RU" sz="1600" dirty="0" err="1" smtClean="0"/>
                        <a:t>замовлення</a:t>
                      </a:r>
                      <a:r>
                        <a:rPr lang="ru-RU" sz="1600" dirty="0" smtClean="0"/>
                        <a:t> в гостя </a:t>
                      </a:r>
                      <a:r>
                        <a:rPr lang="ru-RU" sz="1600" dirty="0" err="1" smtClean="0"/>
                        <a:t>оновлюється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миттєво</a:t>
                      </a:r>
                      <a:r>
                        <a:rPr lang="ru-RU" sz="1600" dirty="0" smtClean="0"/>
                        <a:t> без </a:t>
                      </a:r>
                      <a:r>
                        <a:rPr lang="ru-RU" sz="1600" dirty="0" err="1" smtClean="0"/>
                        <a:t>перезавантаження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/>
                        <a:t>Пройдено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9248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UC-I18N-01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err="1" smtClean="0"/>
                        <a:t>Перемикання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мови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інтерфейсу</a:t>
                      </a:r>
                      <a:r>
                        <a:rPr lang="ru-RU" sz="1600" dirty="0" smtClean="0"/>
                        <a:t> </a:t>
                      </a:r>
                      <a:r>
                        <a:rPr lang="en-US" sz="1600" dirty="0" smtClean="0"/>
                        <a:t>UA/EN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err="1" smtClean="0"/>
                        <a:t>Назви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страв</a:t>
                      </a:r>
                      <a:r>
                        <a:rPr lang="ru-RU" sz="1600" dirty="0" smtClean="0"/>
                        <a:t> і контент </a:t>
                      </a:r>
                      <a:r>
                        <a:rPr lang="ru-RU" sz="1600" dirty="0" err="1" smtClean="0"/>
                        <a:t>оновлюються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миттєво</a:t>
                      </a:r>
                      <a:r>
                        <a:rPr lang="ru-RU" sz="1600" dirty="0" smtClean="0"/>
                        <a:t> без повторного </a:t>
                      </a:r>
                      <a:r>
                        <a:rPr lang="ru-RU" sz="1600" dirty="0" err="1" smtClean="0"/>
                        <a:t>завантаження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даних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/>
                        <a:t>Пройдено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5457757"/>
                  </a:ext>
                </a:extLst>
              </a:tr>
              <a:tr h="23028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UC-THEME-01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err="1" smtClean="0"/>
                        <a:t>Перемикання</a:t>
                      </a:r>
                      <a:r>
                        <a:rPr lang="ru-RU" sz="1600" dirty="0" smtClean="0"/>
                        <a:t> теми </a:t>
                      </a:r>
                      <a:r>
                        <a:rPr lang="ru-RU" sz="1600" dirty="0" err="1" smtClean="0"/>
                        <a:t>інтерфейсу</a:t>
                      </a:r>
                      <a:r>
                        <a:rPr lang="ru-RU" sz="1600" dirty="0" smtClean="0"/>
                        <a:t> </a:t>
                      </a:r>
                      <a:r>
                        <a:rPr lang="en-US" sz="1600" dirty="0" smtClean="0"/>
                        <a:t>Dark/Light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err="1" smtClean="0"/>
                        <a:t>Кольорова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палітра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інтерфейсу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змінюється</a:t>
                      </a:r>
                      <a:r>
                        <a:rPr lang="ru-RU" sz="1600" dirty="0" smtClean="0"/>
                        <a:t> без </a:t>
                      </a:r>
                      <a:r>
                        <a:rPr lang="ru-RU" sz="1600" dirty="0" err="1" smtClean="0"/>
                        <a:t>перезаватнаження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/>
                        <a:t>Пройдено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6904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6587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462606" y="-530679"/>
            <a:ext cx="13117210" cy="7742959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r="-1559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304346" y="261258"/>
            <a:ext cx="11640457" cy="6505302"/>
            <a:chOff x="0" y="0"/>
            <a:chExt cx="4274335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334" cy="2167467"/>
            </a:xfrm>
            <a:custGeom>
              <a:avLst/>
              <a:gdLst/>
              <a:ahLst/>
              <a:cxnLst/>
              <a:rect l="l" t="t" r="r" b="b"/>
              <a:pathLst>
                <a:path w="4274334" h="2167467">
                  <a:moveTo>
                    <a:pt x="0" y="0"/>
                  </a:moveTo>
                  <a:lnTo>
                    <a:pt x="4274334" y="0"/>
                  </a:lnTo>
                  <a:lnTo>
                    <a:pt x="4274334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57150"/>
              <a:ext cx="4274335" cy="211031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54"/>
                </a:lnSpc>
              </a:pPr>
              <a:endParaRPr sz="1200"/>
            </a:p>
          </p:txBody>
        </p:sp>
      </p:grpSp>
      <p:sp>
        <p:nvSpPr>
          <p:cNvPr id="6" name="Freeform 6"/>
          <p:cNvSpPr/>
          <p:nvPr/>
        </p:nvSpPr>
        <p:spPr>
          <a:xfrm rot="17556307" flipH="1" flipV="1">
            <a:off x="11314987" y="3763760"/>
            <a:ext cx="5748994" cy="5833850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8623491" y="8750775"/>
                </a:moveTo>
                <a:lnTo>
                  <a:pt x="0" y="8750775"/>
                </a:lnTo>
                <a:lnTo>
                  <a:pt x="0" y="0"/>
                </a:lnTo>
                <a:lnTo>
                  <a:pt x="8623491" y="0"/>
                </a:lnTo>
                <a:lnTo>
                  <a:pt x="8623491" y="875077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4481473">
            <a:off x="-3527441" y="-4197375"/>
            <a:ext cx="5748994" cy="5833850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0" y="0"/>
                </a:moveTo>
                <a:lnTo>
                  <a:pt x="8623491" y="0"/>
                </a:lnTo>
                <a:lnTo>
                  <a:pt x="8623491" y="8750775"/>
                </a:lnTo>
                <a:lnTo>
                  <a:pt x="0" y="87507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>
            <a:off x="4083915" y="6207723"/>
            <a:ext cx="4024171" cy="2202319"/>
          </a:xfrm>
          <a:custGeom>
            <a:avLst/>
            <a:gdLst/>
            <a:ahLst/>
            <a:cxnLst/>
            <a:rect l="l" t="t" r="r" b="b"/>
            <a:pathLst>
              <a:path w="6036256" h="3303478">
                <a:moveTo>
                  <a:pt x="0" y="0"/>
                </a:moveTo>
                <a:lnTo>
                  <a:pt x="6036256" y="0"/>
                </a:lnTo>
                <a:lnTo>
                  <a:pt x="6036256" y="3303479"/>
                </a:lnTo>
                <a:lnTo>
                  <a:pt x="0" y="33034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301910" y="384613"/>
            <a:ext cx="9588174" cy="6265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33"/>
              </a:lnSpc>
            </a:pPr>
            <a:r>
              <a:rPr lang="ru-RU" sz="4000" dirty="0" err="1" smtClean="0">
                <a:solidFill>
                  <a:srgbClr val="0E182F"/>
                </a:solidFill>
                <a:latin typeface="Roca One"/>
                <a:ea typeface="Roca One"/>
                <a:cs typeface="Roca One"/>
                <a:sym typeface="Roca One"/>
              </a:rPr>
              <a:t>Підсумки</a:t>
            </a:r>
            <a:r>
              <a:rPr lang="ru-RU" sz="4000" dirty="0" smtClean="0">
                <a:solidFill>
                  <a:srgbClr val="0E182F"/>
                </a:solidFill>
                <a:latin typeface="Roca One"/>
                <a:ea typeface="Roca One"/>
                <a:cs typeface="Roca One"/>
                <a:sym typeface="Roca One"/>
              </a:rPr>
              <a:t> та </a:t>
            </a:r>
            <a:r>
              <a:rPr lang="ru-RU" sz="4000" dirty="0" err="1" smtClean="0">
                <a:solidFill>
                  <a:srgbClr val="0E182F"/>
                </a:solidFill>
                <a:latin typeface="Roca One"/>
                <a:ea typeface="Roca One"/>
                <a:cs typeface="Roca One"/>
                <a:sym typeface="Roca One"/>
              </a:rPr>
              <a:t>перспективи</a:t>
            </a:r>
            <a:r>
              <a:rPr lang="ru-RU" sz="4000" dirty="0" smtClean="0">
                <a:solidFill>
                  <a:srgbClr val="0E182F"/>
                </a:solidFill>
                <a:latin typeface="Roca One"/>
                <a:ea typeface="Roca One"/>
                <a:cs typeface="Roca One"/>
                <a:sym typeface="Roca One"/>
              </a:rPr>
              <a:t> </a:t>
            </a:r>
            <a:r>
              <a:rPr lang="ru-RU" sz="4000" dirty="0" err="1" smtClean="0">
                <a:solidFill>
                  <a:srgbClr val="0E182F"/>
                </a:solidFill>
                <a:latin typeface="Roca One"/>
                <a:ea typeface="Roca One"/>
                <a:cs typeface="Roca One"/>
                <a:sym typeface="Roca One"/>
              </a:rPr>
              <a:t>розвитку</a:t>
            </a:r>
            <a:endParaRPr lang="en-US" sz="6666" dirty="0">
              <a:solidFill>
                <a:srgbClr val="0E182F"/>
              </a:solidFill>
              <a:latin typeface="Roca One"/>
              <a:ea typeface="Roca One"/>
              <a:cs typeface="Roca One"/>
              <a:sym typeface="Roca One"/>
            </a:endParaRPr>
          </a:p>
        </p:txBody>
      </p:sp>
      <p:pic>
        <p:nvPicPr>
          <p:cNvPr id="14" name="Google Shape;64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2673" y="5905016"/>
            <a:ext cx="1149667" cy="775667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9"/>
          <p:cNvSpPr txBox="1"/>
          <p:nvPr/>
        </p:nvSpPr>
        <p:spPr>
          <a:xfrm>
            <a:off x="841826" y="1267717"/>
            <a:ext cx="10508342" cy="52322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Результати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Спроєктована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реалізована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система,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що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забезпечує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повний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цикл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обслуговування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гостя: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QR →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замовлення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→ оплата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Понад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80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функціональних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вимог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(15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модулів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понад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70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критеріїв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приймання</a:t>
            </a:r>
            <a:endParaRPr lang="ru-RU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60+ REST API-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ендпоінтів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WebSocket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event replay, 23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колекції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  <a:endParaRPr lang="uk-UA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PWA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 офлайн-режимом,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Freemium-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монетизація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multi-tenant SaaS</a:t>
            </a:r>
            <a:endParaRPr lang="uk-UA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</a:pP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Перспективи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розвитку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Бронювання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столиків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програма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лояльності</a:t>
            </a:r>
            <a:endParaRPr lang="ru-RU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Поглиблена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аналітика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ABC-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аналіз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страв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прогнозування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попиту</a:t>
            </a:r>
            <a:endParaRPr lang="ru-RU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  <a:r>
              <a:rPr lang="uk-UA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інтеграції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генерація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описів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страв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персоналізовані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рекомендації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аналіз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тональності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відгуків</a:t>
            </a:r>
            <a:endParaRPr lang="ru-RU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Двостороння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інтеграція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з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POS-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системами (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Poster, </a:t>
            </a: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Syrve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Servio</a:t>
            </a:r>
            <a:r>
              <a:rPr lang="uk-UA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Choice QR)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Нативні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мобільні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застосунки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для персоналу (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push-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сповіщення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659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581</TotalTime>
  <Words>736</Words>
  <Application>Microsoft Office PowerPoint</Application>
  <PresentationFormat>Широкоэкранный</PresentationFormat>
  <Paragraphs>129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9" baseType="lpstr">
      <vt:lpstr>Arial</vt:lpstr>
      <vt:lpstr>Assistant</vt:lpstr>
      <vt:lpstr>Calibri</vt:lpstr>
      <vt:lpstr>Calibri Light</vt:lpstr>
      <vt:lpstr>Roca One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Denis Tokar</dc:creator>
  <cp:lastModifiedBy>Denis Tokar</cp:lastModifiedBy>
  <cp:revision>18</cp:revision>
  <dcterms:created xsi:type="dcterms:W3CDTF">2026-06-18T10:33:03Z</dcterms:created>
  <dcterms:modified xsi:type="dcterms:W3CDTF">2026-06-18T20:14:56Z</dcterms:modified>
</cp:coreProperties>
</file>